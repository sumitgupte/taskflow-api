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Housekeeping before you start:</a:t>
            </a:r>
          </a:p>
          <a:p>
            <a:r>
              <a:t>- Confirm everyone has agent mode and a premium model. Exercises 2 and 3 compare two models; without a second model those steps collapse.</a:t>
            </a:r>
          </a:p>
          <a:p>
            <a:r>
              <a:t>- java -version must say 25. Spring Boot 4.1 will not build on 17.</a:t>
            </a:r>
          </a:p>
          <a:p>
            <a:r>
              <a:t>- Everyone should already have run ./mvnw test at home. First run pulls ~60MB from Maven Central — doing that on venue wifi at 09:01 with 20 people costs you the first exercise.</a:t>
            </a:r>
          </a:p>
          <a:p>
            <a:r>
              <a:t>- Find out who is on IntelliJ vs VS Code. Both work; prompt files differ in Exercise 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in one minute. This is not a tips-and-tricks session and not a prompt-library handout.</a:t>
            </a:r>
          </a:p>
          <a:p/>
          <a:p>
            <a:r>
              <a:t>The day is built as an experiment: the same feature gets built three times, varying one input at a time. That is the only way the comparison means anything.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kicker line out loud. If you do not, people experience Exercises 2–4 as repetition rather than as an experiment, and the whole arc is lost.</a:t>
            </a:r>
          </a:p>
          <a:p/>
          <a:p>
            <a:r>
              <a:t>Each exercise branch is an independent snapshot off main. Nobody needs to have finished Exercise 1 to start Exercise 2 — a participant who falls behind or wrecks their tree switches branch and is caught up instantly.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2h25 including the break.</a:t>
            </a:r>
          </a:p>
          <a:p/>
          <a:p>
            <a:r>
              <a:t>The shape protects the back half: Exercises 3 and 4 keep 30 and 35 minutes, which is nearly the full original allowance. The compression falls on the intro, Exercise 1, Exercise 2, and the debriefs.</a:t>
            </a:r>
          </a:p>
          <a:p/>
          <a:p>
            <a:r>
              <a:t>DEBRIEFS ARE FIVE MINUTES. That is two questions, not four. Each debrief slide marks the one question you must not skip — ask that, take two or three answers, move on. Overrunning here is the only way this shape breaks, because there is nowhere left to borrow from.</a:t>
            </a:r>
          </a:p>
          <a:p/>
          <a:p>
            <a:r>
              <a:t>Debriefs are not optional padding — the arc only lands if you say the connecting sentence at each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exercise is engineered to fail in a way the next one fixes.</a:t>
            </a:r>
          </a:p>
          <a:p/>
          <a:p>
            <a:r>
              <a:t>THE PIVOT AT THE END OF EXERCISE 3 IS THE WHOLE DAY. If people leave thinking the lesson is "write a good instructions file", the arc did not land.</a:t>
            </a:r>
          </a:p>
          <a:p/>
          <a:p>
            <a:r>
              <a:t>Say the connecting sentence at every debrief or the sequence reads as four disconnected labs.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branch carries only its own handout and its own tickets. This is deliberate: someone who reads the Exercise 4 handout while sitting in Exercise 2 already knows the punchline, and the day depends on Exercise 2 failing before Exercise 3 explains it.</a:t>
            </a:r>
          </a:p>
          <a:p/>
          <a:p>
            <a:r>
              <a:t>fitness.sh is scoped the same way — Exercise 3 step 5 introduces it as the payoff of having just written guidelines, so shipping it earlier would pre-answer that discussion.</a:t>
            </a:r>
          </a:p>
          <a:p/>
          <a:p>
            <a:r>
              <a:t>Reset within an exercise:  git checkout . &amp;&amp; git clean -fd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duty genuinely moves to you: the Exercise 2 repeat run.</a:t>
            </a:r>
          </a:p>
          <a:p/>
          <a:p>
            <a:r>
              <a:t>Have your step-4 output still open and diff the two live — do not summarise it. They have to SEE two runs of an identical prompt disagreeing about what a reminder is. The handout tells them to expect this from you, so if you skip it the step just vanishes entirely.</a:t>
            </a:r>
          </a:p>
          <a:p/>
          <a:p>
            <a:r>
              <a:t>Exercise 3 is deliberately untouched at 30 minutes. Its four runs are what produce the "model choice moved quality more than the instructions did" finding, and that finding is what makes the Exercise 4 pivot land. Do not borrow time from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and concrete. The goal is only to establish that the model sees a context window assembled from your prompt, your open files, whatever it retrieves, and any instructions files — and nothing else.</a:t>
            </a:r>
          </a:p>
          <a:p/>
          <a:p>
            <a:r>
              <a:t>Everything for the rest of the day is a lever on that input.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routinely conflate these two. Exercise 1 makes them feel the difference by asking the same question three times.</a:t>
            </a:r>
          </a:p>
          <a:p/>
          <a:p>
            <a:r>
              <a:t>Do not pre-announce the answer to Exercise 1 here — set up the vocabulary 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Blank slate on purpose. Have everyone switch branch before you start talking.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shape of the three answers:</a:t>
            </a:r>
          </a:p>
          <a:p/>
          <a:p>
            <a:r>
              <a:t>Step 2 (cold): a competent file-tree walk. Finds the controllers, correctly says "task management REST API". Typically misses that there is no real database, that the password is never checked, that NotificationService is an empty shell.</a:t>
            </a:r>
          </a:p>
          <a:p/>
          <a:p>
            <a:r>
              <a:t>Step 4 (behavioral): noticeably shorter or longer. SAME FACTS, SAME GAPS. This is the point. If a table claims accuracy improved, ask them to point at the specific new fact.</a:t>
            </a:r>
          </a:p>
          <a:p/>
          <a:p>
            <a:r>
              <a:t>Step 6 (structural): now cites the request flow and the limitations, because they are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tables to find at least one of these. The User records do carry a bcrypt-looking hash field, which is what leads the model astray on the password claim.</a:t>
            </a:r>
          </a:p>
          <a:p/>
          <a:p>
            <a:r>
              <a:t>If a table finishes early: have them add a WRONG fact to PROJECT_OVERVIEW.md on purpose and re-ask. Copilot repeats it confidently. Instructions are trusted input, not verified input.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Ask the starred question, take two or three answers, then pick ONE more. The others are in the handout for them to think about later.</a:t>
            </a:r>
          </a:p>
          <a:p/>
          <a:p>
            <a:r>
              <a:t>Question 2 is the interesting one. The answer: retrieval is unreliable and lossy, and an instructions file is guaranteed context rather than hoped-for context. It is a cache of a review you already did.</a:t>
            </a:r>
          </a:p>
          <a:p/>
          <a:p>
            <a:r>
              <a:t>Land the takeaway, then move on — do not let this run long, Exercise 2 needs its full 30.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'three times' line here if you have not already.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out loud. Then say: everything that goes wrong in the next thirty minutes traces back to something this ticket does not say.</a:t>
            </a:r>
          </a:p>
          <a:p/>
          <a:p>
            <a:r>
              <a:t>Do not list the six ambiguities yet. Let them discover the failures first — the list is the debrief, not the setup.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PEOPLE TO COMMIT. Exercise 4 step 4 has them diff all three exercises against each other, and that payoff does not work if nobody committed.</a:t>
            </a:r>
          </a:p>
          <a:p/>
          <a:p>
            <a:r>
              <a:t>Reset between runs:  git switch exercise-2 &amp;&amp; git checkout . &amp;&amp; git clean -fd</a:t>
            </a:r>
          </a:p>
          <a:p/>
          <a:p>
            <a:r>
              <a:t>Step 5 (same prompt, same model, different result) is easy to rush past. Make people actually diff it. "It worked when I tried it" dies 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Roughly in order of frequency. The class name NotificationService alone is enough to trigger the invented email transport.</a:t>
            </a:r>
          </a:p>
          <a:p/>
          <a:p>
            <a:r>
              <a:t>The unscoped read endpoint is the highest-value moment in the exercise. If no table finds it, ask directly: "can Alice see Bob's reminders?"</a:t>
            </a:r>
          </a:p>
          <a:p/>
          <a:p>
            <a:r>
              <a:t>Watch for a model inventing a scheduler and never mentioning that it did.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scoring rubric for the rest of the day. Put it on the wall if you can.</a:t>
            </a:r>
          </a:p>
          <a:p/>
          <a:p>
            <a:r>
              <a:t>The point to land: every implementation answers all six. The only question is whether a human decided the answers or a model guessed them.</a:t>
            </a:r>
          </a:p>
          <a:p/>
          <a:p>
            <a:r>
              <a:t>On step 6 (latent knowledge): three words — "using TDD" — restructured the output. Nobody explained TDD to the model. The leverage was in NAMING A PRACTICE THE MODEL ALREADY KNOWS, not in describing it. That is the cheapest prompt improvement available.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The starred question is the one that must land — everything else here is optional.</a:t>
            </a:r>
          </a:p>
          <a:p/>
          <a:p>
            <a:r>
              <a:t>Question 2 is the trap worth springing: the instinct is to blame the model. The answer is that nobody told it, so it is the ticket's fault.</a:t>
            </a:r>
          </a:p>
          <a:p/>
          <a:p>
            <a:r>
              <a:t>Close by naming the gap neither a better model nor a better prompt closed — the ticket never said what it wanted. That is what Exercises 3 and 4 attack.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the feature constant, vary one input. If instructions matter, this is where you see it — and if they matter less than expected, you see that too.</a:t>
            </a:r>
          </a:p>
          <a:p/>
          <a:p>
            <a:r>
              <a:t>Be honest about the result. It sets up Exercise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them read .github/copilot-instructions.md before they start, so they know what Copilot is being told that it was not told in Exercise 2.</a:t>
            </a:r>
          </a:p>
          <a:p/>
          <a:p>
            <a:r>
              <a:t>Same four-run structure as the full-length version: weak model, then premium model, then write the guidelines, then a final run with auto-approve on. This exercise keeps its whole 30 minutes — it is the one place in the short slot where nothing was cut.</a:t>
            </a:r>
          </a:p>
          <a:p/>
          <a:p>
            <a:r>
              <a:t>Shape: two runs with reviews (18 min), write the guidelines (6), final run with auto-approve on (6).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ranking of the four runs: Ex2 weak → Ex2 strong → Ex3 weak → Ex3 strong.</a:t>
            </a:r>
          </a:p>
          <a:p/>
          <a:p>
            <a:r>
              <a:t>What instructions DO reliably improve: adherence to existing patterns (constructor injection, ErrorResponse), and a sharp drop in invented schedulers and email transports — because PROJECT_OVERVIEW.md says in as many words that neither exists. That is the clearest measurable win. Point at it.</a:t>
            </a:r>
          </a:p>
          <a:p/>
          <a:p>
            <a:r>
              <a:t>What they do not fix: the feature still is not specified. The six ambiguities are still being answered silently, just in better-formatted code.</a:t>
            </a:r>
          </a:p>
          <a:p/>
          <a:p>
            <a:r>
              <a:t>Have tables run  git diff exercise-2 -- src/  rather than eyeballing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it needs a human in review" is the right conclusion for the third one — do not let a table invent a fake linter for it.</a:t>
            </a:r>
          </a:p>
          <a:p/>
          <a:p>
            <a:r>
              <a:t>Guidelines earn their place by being the write-up of a mistake you have already seen. The "don't invent infrastructure" rule exists because they watched it happen twice this morning.</a:t>
            </a:r>
          </a:p>
          <a:p/>
          <a:p>
            <a:r>
              <a:t>On auto-approval (step 6): some participants will be nervous. That is the correct instinct and worth naming — auto-approve is defensible only in proportion to the strength of your automated gates. A repo with no fitness.sh has no business running an unsupervised agent.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Ask the starred question — the ranking is what sets up the next slide, and the next slide is the whole day.</a:t>
            </a:r>
          </a:p>
          <a:p/>
          <a:p>
            <a:r>
              <a:t>Expected ordering: Ex2 weak → Ex2 strong → Ex3 weak → Ex3 strong. Let the honest finding land: for a ticket this vague, model choice moved quality more than the instructions file did.</a:t>
            </a:r>
          </a:p>
          <a:p/>
          <a:p>
            <a:r>
              <a:t>If they are slow to answer question 3, name the nervousness directly — auto-approve is defensible only in proportion to the strength of your automated gates. A repo with no fitness.sh has no business running an unsupervised agent.</a:t>
            </a:r>
          </a:p>
          <a:p/>
          <a:p>
            <a:r>
              <a:t>Go straight into the pivot slide from here. Do not break the momentum.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THE DECK.</a:t>
            </a:r>
          </a:p>
          <a:p/>
          <a:p>
            <a:r>
              <a:t>If people leave thinking the lesson was "write a good instructions file", the arc did not land. Say explicitly: instructions turned your review comments into something enforced before the code is written rather than after. Fitness functions turned them into something enforced without you in the room.</a:t>
            </a:r>
          </a:p>
          <a:p/>
          <a:p>
            <a:r>
              <a:t>Neither can tell Copilot what the feature is supposed to DO.</a:t>
            </a:r>
          </a:p>
          <a:p/>
          <a:p>
            <a:r>
              <a:t>Take the break here if you have not already.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trying to fix it with a better prompt. Fix it with a better process.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time split: Refine 13, Plan 9, Implement 13 — and they will not finish the feature. SAY SO UP FRONT, TWICE.</a:t>
            </a:r>
          </a:p>
          <a:p/>
          <a:p>
            <a:r>
              <a:t>The failure mode is a table rushing Refine to "get to the real work", which is exactly the habit this exercise exists to break.</a:t>
            </a:r>
          </a:p>
          <a:p/>
          <a:p>
            <a:r>
              <a:t>This branch ships all three as prompt files in .github/prompts/, invoked as /refine, /plan, /implement. On IntelliJ slash commands may not resolve — the handout gives every prompt in full under "…or by hand".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implement-stage failures, all worth calling out:</a:t>
            </a:r>
          </a:p>
          <a:p>
            <a:r>
              <a:t>- Claims ./scripts/fitness.sh is green without running it. Have them check.</a:t>
            </a:r>
          </a:p>
          <a:p>
            <a:r>
              <a:t>- Drifts off the plan around step 3 and starts designing something else.</a:t>
            </a:r>
          </a:p>
          <a:p>
            <a:r>
              <a:t>- Implements steps 1–5 in one turn, so nothing was verified independently.</a:t>
            </a:r>
          </a:p>
          <a:p/>
          <a:p>
            <a:r>
              <a:t>Have pairs swap plans and review each other's. A step you cannot tell "done" for is not a step.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the entire day, and it only works if people committed after each exercise. If a table did not commit, pair them with one that did.</a:t>
            </a:r>
          </a:p>
          <a:p/>
          <a:p>
            <a:r>
              <a:t>Step 5 — the second ticket — is the other half of the lesson. task-listing-performance.md is fully scoped, so Refine finds almost nothing. That shows the cycle's value is proportional to the ticket's vagueness, not a ritual to perform on everything.</a:t>
            </a:r>
          </a:p>
          <a:p/>
          <a:p>
            <a:r>
              <a:t>If time is short: half the room takes rate-limiting, half takes performance, then compare Refine outputs.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slot it is a READING step, not a lab — there is no time to run the cycle twice. They open both tickets and answer "what would Refine even find here?"</a:t>
            </a:r>
          </a:p>
          <a:p/>
          <a:p>
            <a:r>
              <a:t>LAND THIS EXPLICITLY. It is the single most important thing for adoption back at their desks. A room that leaves believing every change needs a three-stage cycle will abandon the whole idea within a fortnight.</a:t>
            </a:r>
          </a:p>
          <a:p/>
          <a:p>
            <a:r>
              <a:t>If a table finished the implement stage early, have them actually run the cycle on rate-limiting.md instead of just reading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discussion, not a lab.</a:t>
            </a:r>
          </a:p>
          <a:p/>
          <a:p>
            <a:r>
              <a:t>The plan-adherence answers you are fishing for: number the steps and have it state which one it is on; have it check off completed steps in the plan file so the plan becomes state; implement one step per chat turn; reference the plan by file rather than pasting it; make the fitness functions strict enough that drifting fails rather than merely being wrong.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and it is the last thing before the close — do not let it sprawl.</a:t>
            </a:r>
          </a:p>
          <a:p/>
          <a:p>
            <a:r>
              <a:t>Question 1 is the fair challenge and you should not dodge it. Part of the answer is honestly "yes, you spent longer" — but the spec and plan are reusable artefacts and the review was cheaper because the diff was smaller and expected.</a:t>
            </a:r>
          </a:p>
          <a:p/>
          <a:p>
            <a:r>
              <a:t>Question 4 matters for adoption: nobody should run refine→plan→implement on a typo fix. The cycle scales with the vagueness of the ticket.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this. Then hand out the cheat sheet.</a:t>
            </a:r>
          </a:p>
          <a:p/>
          <a:p>
            <a:r>
              <a:t>docs/copilot-prompt-cheatsheet.md is scoped to exercise-4 and has prompt templates for each stage. It is the thing people keep after the bootcamp.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table for one thing they will change on their own repo on Monday. Write them on the whiteboard. Concrete commitments beat a satisfaction score.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31720"/>
            <a:ext cx="146304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651760"/>
            <a:ext cx="10637215" cy="1463040"/>
          </a:xfrm>
          <a:prstGeom prst="rect">
            <a:avLst/>
          </a:prstGeom>
          <a:noFill/>
        </p:spPr>
        <p:txBody>
          <a:bodyPr wrap="square" lIns="0" rIns="0" tIns="0" bIns="0">
            <a:spAutoFit/>
          </a:bodyPr>
          <a:lstStyle/>
          <a:p>
            <a:pPr algn="l">
              <a:lnSpc>
                <a:spcPct val="100000"/>
              </a:lnSpc>
              <a:spcBef>
                <a:spcPts val="0"/>
              </a:spcBef>
            </a:pPr>
            <a:r>
              <a:rPr sz="4600" b="1">
                <a:solidFill>
                  <a:srgbClr val="FFFFFF"/>
                </a:solidFill>
                <a:latin typeface="Calibri"/>
              </a:rPr>
              <a:t>Augmented AI Engineering</a:t>
            </a:r>
          </a:p>
        </p:txBody>
      </p:sp>
      <p:sp>
        <p:nvSpPr>
          <p:cNvPr id="5" name="TextBox 4"/>
          <p:cNvSpPr txBox="1"/>
          <p:nvPr/>
        </p:nvSpPr>
        <p:spPr>
          <a:xfrm>
            <a:off x="777240" y="3886200"/>
            <a:ext cx="10637215" cy="914400"/>
          </a:xfrm>
          <a:prstGeom prst="rect">
            <a:avLst/>
          </a:prstGeom>
          <a:noFill/>
        </p:spPr>
        <p:txBody>
          <a:bodyPr wrap="square" lIns="0" rIns="0" tIns="0" bIns="0">
            <a:spAutoFit/>
          </a:bodyPr>
          <a:lstStyle/>
          <a:p>
            <a:pPr algn="l">
              <a:lnSpc>
                <a:spcPct val="100000"/>
              </a:lnSpc>
              <a:spcBef>
                <a:spcPts val="0"/>
              </a:spcBef>
            </a:pPr>
            <a:r>
              <a:rPr sz="2100" b="0">
                <a:solidFill>
                  <a:srgbClr val="B6C1D1"/>
                </a:solidFill>
                <a:latin typeface="Calibri"/>
              </a:rPr>
              <a:t>Working with GitHub Copilot on a real codebase — a four-exercise workshop</a:t>
            </a:r>
          </a:p>
        </p:txBody>
      </p:sp>
      <p:sp>
        <p:nvSpPr>
          <p:cNvPr id="6" name="TextBox 5"/>
          <p:cNvSpPr txBox="1"/>
          <p:nvPr/>
        </p:nvSpPr>
        <p:spPr>
          <a:xfrm>
            <a:off x="777240" y="5897880"/>
            <a:ext cx="10637215" cy="457200"/>
          </a:xfrm>
          <a:prstGeom prst="rect">
            <a:avLst/>
          </a:prstGeom>
          <a:noFill/>
        </p:spPr>
        <p:txBody>
          <a:bodyPr wrap="square" lIns="0" rIns="0" tIns="0" bIns="0">
            <a:spAutoFit/>
          </a:bodyPr>
          <a:lstStyle/>
          <a:p>
            <a:pPr algn="l">
              <a:lnSpc>
                <a:spcPct val="100000"/>
              </a:lnSpc>
              <a:spcBef>
                <a:spcPts val="0"/>
              </a:spcBef>
            </a:pPr>
            <a:r>
              <a:rPr sz="1300" b="0">
                <a:solidFill>
                  <a:srgbClr val="7C8A9E"/>
                </a:solidFill>
                <a:latin typeface="Calibri"/>
              </a:rPr>
              <a:t>TaskFlow API  ·  Spring Boot 4 / Java 25  ·  2h25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77440"/>
            <a:ext cx="10637215" cy="2194560"/>
          </a:xfrm>
          <a:prstGeom prst="rect">
            <a:avLst/>
          </a:prstGeom>
          <a:noFill/>
        </p:spPr>
        <p:txBody>
          <a:bodyPr wrap="square" lIns="0" rIns="0" tIns="0" bIns="0">
            <a:spAutoFit/>
          </a:bodyPr>
          <a:lstStyle/>
          <a:p>
            <a:pPr algn="l">
              <a:lnSpc>
                <a:spcPct val="118000"/>
              </a:lnSpc>
              <a:spcBef>
                <a:spcPts val="0"/>
              </a:spcBef>
            </a:pPr>
            <a:r>
              <a:rPr sz="3400" b="1">
                <a:solidFill>
                  <a:srgbClr val="FFFFFF"/>
                </a:solidFill>
                <a:latin typeface="Calibri"/>
              </a:rPr>
              <a:t>Everyone here can already get Copilot to write code.
Today is about getting it to write the right code.</a:t>
            </a:r>
          </a:p>
        </p:txBody>
      </p:sp>
      <p:sp>
        <p:nvSpPr>
          <p:cNvPr id="4" name="TextBox 3"/>
          <p:cNvSpPr txBox="1"/>
          <p:nvPr/>
        </p:nvSpPr>
        <p:spPr>
          <a:xfrm>
            <a:off x="777240" y="4846320"/>
            <a:ext cx="10637215" cy="548640"/>
          </a:xfrm>
          <a:prstGeom prst="rect">
            <a:avLst/>
          </a:prstGeom>
          <a:noFill/>
        </p:spPr>
        <p:txBody>
          <a:bodyPr wrap="square" lIns="0" rIns="0" tIns="0" bIns="0">
            <a:spAutoFit/>
          </a:bodyPr>
          <a:lstStyle/>
          <a:p>
            <a:pPr algn="l">
              <a:lnSpc>
                <a:spcPct val="100000"/>
              </a:lnSpc>
              <a:spcBef>
                <a:spcPts val="0"/>
              </a:spcBef>
            </a:pPr>
            <a:r>
              <a:rPr sz="1700" b="0">
                <a:solidFill>
                  <a:srgbClr val="9FADC0"/>
                </a:solidFill>
                <a:latin typeface="Calibri"/>
              </a:rPr>
              <a:t>The difference is a process, not a prompt.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ORIENTATION</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How today works</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One codebase</a:t>
            </a:r>
          </a:p>
          <a:p>
            <a:pPr algn="l">
              <a:lnSpc>
                <a:spcPct val="108000"/>
              </a:lnSpc>
              <a:spcBef>
                <a:spcPts val="300"/>
              </a:spcBef>
            </a:pPr>
            <a:r>
              <a:rPr sz="1600" b="0">
                <a:solidFill>
                  <a:srgbClr val="5B6474"/>
                </a:solidFill>
                <a:latin typeface="Calibri"/>
              </a:rPr>
              <a:t>     TaskFlow API — small enough to read in fifteen minutes, real enough to break</a:t>
            </a:r>
          </a:p>
          <a:p>
            <a:pPr algn="l">
              <a:lnSpc>
                <a:spcPct val="108000"/>
              </a:lnSpc>
              <a:spcBef>
                <a:spcPts val="1700"/>
              </a:spcBef>
            </a:pPr>
            <a:r>
              <a:rPr sz="2000" b="1">
                <a:solidFill>
                  <a:srgbClr val="1A1F2B"/>
                </a:solidFill>
                <a:latin typeface="Calibri"/>
              </a:rPr>
              <a:t>•  One ticket, built three times</a:t>
            </a:r>
          </a:p>
          <a:p>
            <a:pPr algn="l">
              <a:lnSpc>
                <a:spcPct val="108000"/>
              </a:lnSpc>
              <a:spcBef>
                <a:spcPts val="300"/>
              </a:spcBef>
            </a:pPr>
            <a:r>
              <a:rPr sz="1600" b="0">
                <a:solidFill>
                  <a:srgbClr val="5B6474"/>
                </a:solidFill>
                <a:latin typeface="Calibri"/>
              </a:rPr>
              <a:t>     Exercises 2, 3 and 4 all build the same reminders feature</a:t>
            </a:r>
          </a:p>
          <a:p>
            <a:pPr algn="l">
              <a:lnSpc>
                <a:spcPct val="108000"/>
              </a:lnSpc>
              <a:spcBef>
                <a:spcPts val="1700"/>
              </a:spcBef>
            </a:pPr>
            <a:r>
              <a:rPr sz="2000" b="1">
                <a:solidFill>
                  <a:srgbClr val="1A1F2B"/>
                </a:solidFill>
                <a:latin typeface="Calibri"/>
              </a:rPr>
              <a:t>•  One variable at a time</a:t>
            </a:r>
          </a:p>
          <a:p>
            <a:pPr algn="l">
              <a:lnSpc>
                <a:spcPct val="108000"/>
              </a:lnSpc>
              <a:spcBef>
                <a:spcPts val="300"/>
              </a:spcBef>
            </a:pPr>
            <a:r>
              <a:rPr sz="1600" b="0">
                <a:solidFill>
                  <a:srgbClr val="5B6474"/>
                </a:solidFill>
                <a:latin typeface="Calibri"/>
              </a:rPr>
              <a:t>     Change the model, change the instructions, change the process</a:t>
            </a:r>
          </a:p>
          <a:p>
            <a:pPr algn="l">
              <a:lnSpc>
                <a:spcPct val="108000"/>
              </a:lnSpc>
              <a:spcBef>
                <a:spcPts val="1700"/>
              </a:spcBef>
            </a:pPr>
            <a:r>
              <a:rPr sz="2000" b="1">
                <a:solidFill>
                  <a:srgbClr val="1A1F2B"/>
                </a:solidFill>
                <a:latin typeface="Calibri"/>
              </a:rPr>
              <a:t>•  You review everything</a:t>
            </a:r>
          </a:p>
          <a:p>
            <a:pPr algn="l">
              <a:lnSpc>
                <a:spcPct val="108000"/>
              </a:lnSpc>
              <a:spcBef>
                <a:spcPts val="300"/>
              </a:spcBef>
            </a:pPr>
            <a:r>
              <a:rPr sz="1600" b="0">
                <a:solidFill>
                  <a:srgbClr val="5B6474"/>
                </a:solidFill>
                <a:latin typeface="Calibri"/>
              </a:rPr>
              <a:t>     Every exercise ends with reading generated code as if it were a PR</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"You're going to build this three times, and the third one is the only one you'd merge."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AGENDA</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Run of show</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77240" y="2084831"/>
          <a:ext cx="10637212" cy="4023360"/>
        </p:xfrm>
        <a:graphic>
          <a:graphicData uri="http://schemas.openxmlformats.org/drawingml/2006/table">
            <a:tbl>
              <a:tblPr firstRow="1" bandRow="1">
                <a:tableStyleId>{5C22544A-7EE6-4342-B048-85BDC9FD1C3A}</a:tableStyleId>
              </a:tblPr>
              <a:tblGrid>
                <a:gridCol w="638232"/>
                <a:gridCol w="5956840"/>
                <a:gridCol w="1276465"/>
                <a:gridCol w="2765675"/>
              </a:tblGrid>
              <a:tr h="365760">
                <a:tc>
                  <a:txBody>
                    <a:bodyPr wrap="square"/>
                    <a:lstStyle/>
                    <a:p>
                      <a:r>
                        <a:rPr sz="1400" b="1">
                          <a:solidFill>
                            <a:srgbClr val="FFFFFF"/>
                          </a:solidFill>
                          <a:latin typeface="Calibri"/>
                        </a:rPr>
                        <a:t/>
                      </a:r>
                    </a:p>
                  </a:txBody>
                  <a:tcPr marL="109728" marR="109728">
                    <a:solidFill>
                      <a:srgbClr val="1A1F2B"/>
                    </a:solidFill>
                  </a:tcPr>
                </a:tc>
                <a:tc>
                  <a:txBody>
                    <a:bodyPr wrap="square"/>
                    <a:lstStyle/>
                    <a:p>
                      <a:r>
                        <a:rPr sz="1400" b="1">
                          <a:solidFill>
                            <a:srgbClr val="FFFFFF"/>
                          </a:solidFill>
                          <a:latin typeface="Calibri"/>
                        </a:rPr>
                        <a:t>Block</a:t>
                      </a:r>
                    </a:p>
                  </a:txBody>
                  <a:tcPr marL="109728" marR="109728">
                    <a:solidFill>
                      <a:srgbClr val="1A1F2B"/>
                    </a:solidFill>
                  </a:tcPr>
                </a:tc>
                <a:tc>
                  <a:txBody>
                    <a:bodyPr wrap="square"/>
                    <a:lstStyle/>
                    <a:p>
                      <a:r>
                        <a:rPr sz="1400" b="1">
                          <a:solidFill>
                            <a:srgbClr val="FFFFFF"/>
                          </a:solidFill>
                          <a:latin typeface="Calibri"/>
                        </a:rPr>
                        <a:t>Mins</a:t>
                      </a:r>
                    </a:p>
                  </a:txBody>
                  <a:tcPr marL="109728" marR="109728">
                    <a:solidFill>
                      <a:srgbClr val="1A1F2B"/>
                    </a:solidFill>
                  </a:tcPr>
                </a:tc>
                <a:tc>
                  <a:txBody>
                    <a:bodyPr wrap="square"/>
                    <a:lstStyle/>
                    <a:p>
                      <a:r>
                        <a:rPr sz="1400" b="1">
                          <a:solidFill>
                            <a:srgbClr val="FFFFFF"/>
                          </a:solidFill>
                          <a:latin typeface="Calibri"/>
                        </a:rPr>
                        <a:t>Branch</a:t>
                      </a:r>
                    </a:p>
                  </a:txBody>
                  <a:tcPr marL="109728" marR="109728">
                    <a:solidFill>
                      <a:srgbClr val="1A1F2B"/>
                    </a:solidFill>
                  </a:tcPr>
                </a:tc>
              </a:tr>
              <a:tr h="365760">
                <a:tc>
                  <a:txBody>
                    <a:bodyPr wrap="square"/>
                    <a:lstStyle/>
                    <a:p>
                      <a:r>
                        <a:rPr sz="1300" b="0">
                          <a:solidFill>
                            <a:srgbClr val="1A1F2B"/>
                          </a:solidFill>
                          <a:latin typeface="Calibri"/>
                        </a:rPr>
                        <a:t/>
                      </a:r>
                    </a:p>
                  </a:txBody>
                  <a:tcPr marL="109728" marR="109728">
                    <a:solidFill>
                      <a:srgbClr val="FFFFFF"/>
                    </a:solidFill>
                  </a:tcPr>
                </a:tc>
                <a:tc>
                  <a:txBody>
                    <a:bodyPr wrap="square"/>
                    <a:lstStyle/>
                    <a:p>
                      <a:r>
                        <a:rPr sz="1300" b="0">
                          <a:solidFill>
                            <a:srgbClr val="1A1F2B"/>
                          </a:solidFill>
                          <a:latin typeface="Calibri"/>
                        </a:rPr>
                        <a:t>Intro — what Copilot is doing under the hood</a:t>
                      </a:r>
                    </a:p>
                  </a:txBody>
                  <a:tcPr marL="109728" marR="109728">
                    <a:solidFill>
                      <a:srgbClr val="FFFFFF"/>
                    </a:solidFill>
                  </a:tcPr>
                </a:tc>
                <a:tc>
                  <a:txBody>
                    <a:bodyPr wrap="square"/>
                    <a:lstStyle/>
                    <a:p>
                      <a:r>
                        <a:rPr sz="1300" b="0">
                          <a:solidFill>
                            <a:srgbClr val="1A1F2B"/>
                          </a:solidFill>
                          <a:latin typeface="Calibri"/>
                        </a:rPr>
                        <a:t>10</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r>
              <a:tr h="365760">
                <a:tc>
                  <a:txBody>
                    <a:bodyPr wrap="square"/>
                    <a:lstStyle/>
                    <a:p>
                      <a:r>
                        <a:rPr sz="1300" b="1">
                          <a:solidFill>
                            <a:srgbClr val="1A1F2B"/>
                          </a:solidFill>
                          <a:latin typeface="Calibri"/>
                        </a:rPr>
                        <a:t>1</a:t>
                      </a:r>
                    </a:p>
                  </a:txBody>
                  <a:tcPr marL="109728" marR="109728">
                    <a:solidFill>
                      <a:srgbClr val="F4F6F9"/>
                    </a:solidFill>
                  </a:tcPr>
                </a:tc>
                <a:tc>
                  <a:txBody>
                    <a:bodyPr wrap="square"/>
                    <a:lstStyle/>
                    <a:p>
                      <a:r>
                        <a:rPr sz="1300" b="0">
                          <a:solidFill>
                            <a:srgbClr val="1A1F2B"/>
                          </a:solidFill>
                          <a:latin typeface="Calibri"/>
                        </a:rPr>
                        <a:t>Exploring a codebase with and without instructions</a:t>
                      </a:r>
                    </a:p>
                  </a:txBody>
                  <a:tcPr marL="109728" marR="109728">
                    <a:solidFill>
                      <a:srgbClr val="F4F6F9"/>
                    </a:solidFill>
                  </a:tcPr>
                </a:tc>
                <a:tc>
                  <a:txBody>
                    <a:bodyPr wrap="square"/>
                    <a:lstStyle/>
                    <a:p>
                      <a:r>
                        <a:rPr sz="1300" b="0">
                          <a:solidFill>
                            <a:srgbClr val="1A1F2B"/>
                          </a:solidFill>
                          <a:latin typeface="Calibri"/>
                        </a:rPr>
                        <a:t>20</a:t>
                      </a:r>
                    </a:p>
                  </a:txBody>
                  <a:tcPr marL="109728" marR="109728">
                    <a:solidFill>
                      <a:srgbClr val="F4F6F9"/>
                    </a:solidFill>
                  </a:tcPr>
                </a:tc>
                <a:tc>
                  <a:txBody>
                    <a:bodyPr wrap="square"/>
                    <a:lstStyle/>
                    <a:p>
                      <a:r>
                        <a:rPr sz="1300" b="0">
                          <a:solidFill>
                            <a:srgbClr val="1A1F2B"/>
                          </a:solidFill>
                          <a:latin typeface="Calibri"/>
                        </a:rPr>
                        <a:t>exercise-1</a:t>
                      </a:r>
                    </a:p>
                  </a:txBody>
                  <a:tcPr marL="109728" marR="109728">
                    <a:solidFill>
                      <a:srgbClr val="F4F6F9"/>
                    </a:solidFill>
                  </a:tcPr>
                </a:tc>
              </a:tr>
              <a:tr h="365760">
                <a:tc>
                  <a:txBody>
                    <a:bodyPr wrap="square"/>
                    <a:lstStyle/>
                    <a:p>
                      <a:r>
                        <a:rPr sz="1300" b="0">
                          <a:solidFill>
                            <a:srgbClr val="1A1F2B"/>
                          </a:solidFill>
                          <a:latin typeface="Calibri"/>
                        </a:rPr>
                        <a:t/>
                      </a:r>
                    </a:p>
                  </a:txBody>
                  <a:tcPr marL="109728" marR="109728">
                    <a:solidFill>
                      <a:srgbClr val="FFFFFF"/>
                    </a:solidFill>
                  </a:tcPr>
                </a:tc>
                <a:tc>
                  <a:txBody>
                    <a:bodyPr wrap="square"/>
                    <a:lstStyle/>
                    <a:p>
                      <a:r>
                        <a:rPr sz="1300" b="0">
                          <a:solidFill>
                            <a:srgbClr val="1A1F2B"/>
                          </a:solidFill>
                          <a:latin typeface="Calibri"/>
                        </a:rPr>
                        <a:t>Debrief 1</a:t>
                      </a:r>
                    </a:p>
                  </a:txBody>
                  <a:tcPr marL="109728" marR="109728">
                    <a:solidFill>
                      <a:srgbClr val="FFFFFF"/>
                    </a:solidFill>
                  </a:tcPr>
                </a:tc>
                <a:tc>
                  <a:txBody>
                    <a:bodyPr wrap="square"/>
                    <a:lstStyle/>
                    <a:p>
                      <a:r>
                        <a:rPr sz="1300" b="0">
                          <a:solidFill>
                            <a:srgbClr val="1A1F2B"/>
                          </a:solidFill>
                          <a:latin typeface="Calibri"/>
                        </a:rPr>
                        <a:t>5</a:t>
                      </a:r>
                    </a:p>
                  </a:txBody>
                  <a:tcPr marL="109728" marR="109728">
                    <a:solidFill>
                      <a:srgbClr val="FFFFFF"/>
                    </a:solidFill>
                  </a:tcPr>
                </a:tc>
                <a:tc>
                  <a:txBody>
                    <a:bodyPr wrap="square"/>
                    <a:lstStyle/>
                    <a:p>
                      <a:r>
                        <a:rPr sz="1300" b="0">
                          <a:solidFill>
                            <a:srgbClr val="1A1F2B"/>
                          </a:solidFill>
                          <a:latin typeface="Calibri"/>
                        </a:rPr>
                        <a:t/>
                      </a:r>
                    </a:p>
                  </a:txBody>
                  <a:tcPr marL="109728" marR="109728">
                    <a:solidFill>
                      <a:srgbClr val="FFFFFF"/>
                    </a:solidFill>
                  </a:tcPr>
                </a:tc>
              </a:tr>
              <a:tr h="365760">
                <a:tc>
                  <a:txBody>
                    <a:bodyPr wrap="square"/>
                    <a:lstStyle/>
                    <a:p>
                      <a:r>
                        <a:rPr sz="1300" b="1">
                          <a:solidFill>
                            <a:srgbClr val="1A1F2B"/>
                          </a:solidFill>
                          <a:latin typeface="Calibri"/>
                        </a:rPr>
                        <a:t>2</a:t>
                      </a:r>
                    </a:p>
                  </a:txBody>
                  <a:tcPr marL="109728" marR="109728">
                    <a:solidFill>
                      <a:srgbClr val="F4F6F9"/>
                    </a:solidFill>
                  </a:tcPr>
                </a:tc>
                <a:tc>
                  <a:txBody>
                    <a:bodyPr wrap="square"/>
                    <a:lstStyle/>
                    <a:p>
                      <a:r>
                        <a:rPr sz="1300" b="0">
                          <a:solidFill>
                            <a:srgbClr val="1A1F2B"/>
                          </a:solidFill>
                          <a:latin typeface="Calibri"/>
                        </a:rPr>
                        <a:t>Vibe code a feature without instructions</a:t>
                      </a:r>
                    </a:p>
                  </a:txBody>
                  <a:tcPr marL="109728" marR="109728">
                    <a:solidFill>
                      <a:srgbClr val="F4F6F9"/>
                    </a:solidFill>
                  </a:tcPr>
                </a:tc>
                <a:tc>
                  <a:txBody>
                    <a:bodyPr wrap="square"/>
                    <a:lstStyle/>
                    <a:p>
                      <a:r>
                        <a:rPr sz="1300" b="0">
                          <a:solidFill>
                            <a:srgbClr val="1A1F2B"/>
                          </a:solidFill>
                          <a:latin typeface="Calibri"/>
                        </a:rPr>
                        <a:t>20</a:t>
                      </a:r>
                    </a:p>
                  </a:txBody>
                  <a:tcPr marL="109728" marR="109728">
                    <a:solidFill>
                      <a:srgbClr val="F4F6F9"/>
                    </a:solidFill>
                  </a:tcPr>
                </a:tc>
                <a:tc>
                  <a:txBody>
                    <a:bodyPr wrap="square"/>
                    <a:lstStyle/>
                    <a:p>
                      <a:r>
                        <a:rPr sz="1300" b="0">
                          <a:solidFill>
                            <a:srgbClr val="1A1F2B"/>
                          </a:solidFill>
                          <a:latin typeface="Calibri"/>
                        </a:rPr>
                        <a:t>exercise-2</a:t>
                      </a:r>
                    </a:p>
                  </a:txBody>
                  <a:tcPr marL="109728" marR="109728">
                    <a:solidFill>
                      <a:srgbClr val="F4F6F9"/>
                    </a:solidFill>
                  </a:tcPr>
                </a:tc>
              </a:tr>
              <a:tr h="365760">
                <a:tc>
                  <a:txBody>
                    <a:bodyPr wrap="square"/>
                    <a:lstStyle/>
                    <a:p>
                      <a:r>
                        <a:rPr sz="1300" b="0">
                          <a:solidFill>
                            <a:srgbClr val="1A1F2B"/>
                          </a:solidFill>
                          <a:latin typeface="Calibri"/>
                        </a:rPr>
                        <a:t/>
                      </a:r>
                    </a:p>
                  </a:txBody>
                  <a:tcPr marL="109728" marR="109728">
                    <a:solidFill>
                      <a:srgbClr val="FFFFFF"/>
                    </a:solidFill>
                  </a:tcPr>
                </a:tc>
                <a:tc>
                  <a:txBody>
                    <a:bodyPr wrap="square"/>
                    <a:lstStyle/>
                    <a:p>
                      <a:r>
                        <a:rPr sz="1300" b="0">
                          <a:solidFill>
                            <a:srgbClr val="1A1F2B"/>
                          </a:solidFill>
                          <a:latin typeface="Calibri"/>
                        </a:rPr>
                        <a:t>Debrief 2</a:t>
                      </a:r>
                    </a:p>
                  </a:txBody>
                  <a:tcPr marL="109728" marR="109728">
                    <a:solidFill>
                      <a:srgbClr val="FFFFFF"/>
                    </a:solidFill>
                  </a:tcPr>
                </a:tc>
                <a:tc>
                  <a:txBody>
                    <a:bodyPr wrap="square"/>
                    <a:lstStyle/>
                    <a:p>
                      <a:r>
                        <a:rPr sz="1300" b="0">
                          <a:solidFill>
                            <a:srgbClr val="1A1F2B"/>
                          </a:solidFill>
                          <a:latin typeface="Calibri"/>
                        </a:rPr>
                        <a:t>5</a:t>
                      </a:r>
                    </a:p>
                  </a:txBody>
                  <a:tcPr marL="109728" marR="109728">
                    <a:solidFill>
                      <a:srgbClr val="FFFFFF"/>
                    </a:solidFill>
                  </a:tcPr>
                </a:tc>
                <a:tc>
                  <a:txBody>
                    <a:bodyPr wrap="square"/>
                    <a:lstStyle/>
                    <a:p>
                      <a:r>
                        <a:rPr sz="1300" b="0">
                          <a:solidFill>
                            <a:srgbClr val="1A1F2B"/>
                          </a:solidFill>
                          <a:latin typeface="Calibri"/>
                        </a:rPr>
                        <a:t/>
                      </a:r>
                    </a:p>
                  </a:txBody>
                  <a:tcPr marL="109728" marR="109728">
                    <a:solidFill>
                      <a:srgbClr val="FFFFFF"/>
                    </a:solidFill>
                  </a:tcPr>
                </a:tc>
              </a:tr>
              <a:tr h="365760">
                <a:tc>
                  <a:txBody>
                    <a:bodyPr wrap="square"/>
                    <a:lstStyle/>
                    <a:p>
                      <a:r>
                        <a:rPr sz="1300" b="0">
                          <a:solidFill>
                            <a:srgbClr val="1A1F2B"/>
                          </a:solidFill>
                          <a:latin typeface="Calibri"/>
                        </a:rPr>
                        <a:t/>
                      </a:r>
                    </a:p>
                  </a:txBody>
                  <a:tcPr marL="109728" marR="109728">
                    <a:solidFill>
                      <a:srgbClr val="F4F6F9"/>
                    </a:solidFill>
                  </a:tcPr>
                </a:tc>
                <a:tc>
                  <a:txBody>
                    <a:bodyPr wrap="square"/>
                    <a:lstStyle/>
                    <a:p>
                      <a:r>
                        <a:rPr sz="1300" b="0">
                          <a:solidFill>
                            <a:srgbClr val="1A1F2B"/>
                          </a:solidFill>
                          <a:latin typeface="Calibri"/>
                        </a:rPr>
                        <a:t>Break</a:t>
                      </a:r>
                    </a:p>
                  </a:txBody>
                  <a:tcPr marL="109728" marR="109728">
                    <a:solidFill>
                      <a:srgbClr val="F4F6F9"/>
                    </a:solidFill>
                  </a:tcPr>
                </a:tc>
                <a:tc>
                  <a:txBody>
                    <a:bodyPr wrap="square"/>
                    <a:lstStyle/>
                    <a:p>
                      <a:r>
                        <a:rPr sz="1300" b="0">
                          <a:solidFill>
                            <a:srgbClr val="1A1F2B"/>
                          </a:solidFill>
                          <a:latin typeface="Calibri"/>
                        </a:rPr>
                        <a:t>10</a:t>
                      </a:r>
                    </a:p>
                  </a:txBody>
                  <a:tcPr marL="109728" marR="109728">
                    <a:solidFill>
                      <a:srgbClr val="F4F6F9"/>
                    </a:solidFill>
                  </a:tcPr>
                </a:tc>
                <a:tc>
                  <a:txBody>
                    <a:bodyPr wrap="square"/>
                    <a:lstStyle/>
                    <a:p>
                      <a:r>
                        <a:rPr sz="1300" b="0">
                          <a:solidFill>
                            <a:srgbClr val="1A1F2B"/>
                          </a:solidFill>
                          <a:latin typeface="Calibri"/>
                        </a:rPr>
                        <a:t/>
                      </a:r>
                    </a:p>
                  </a:txBody>
                  <a:tcPr marL="109728" marR="109728">
                    <a:solidFill>
                      <a:srgbClr val="F4F6F9"/>
                    </a:solidFill>
                  </a:tcPr>
                </a:tc>
              </a:tr>
              <a:tr h="365760">
                <a:tc>
                  <a:txBody>
                    <a:bodyPr wrap="square"/>
                    <a:lstStyle/>
                    <a:p>
                      <a:r>
                        <a:rPr sz="1300" b="1">
                          <a:solidFill>
                            <a:srgbClr val="1A1F2B"/>
                          </a:solidFill>
                          <a:latin typeface="Calibri"/>
                        </a:rPr>
                        <a:t>3</a:t>
                      </a:r>
                    </a:p>
                  </a:txBody>
                  <a:tcPr marL="109728" marR="109728">
                    <a:solidFill>
                      <a:srgbClr val="FFFFFF"/>
                    </a:solidFill>
                  </a:tcPr>
                </a:tc>
                <a:tc>
                  <a:txBody>
                    <a:bodyPr wrap="square"/>
                    <a:lstStyle/>
                    <a:p>
                      <a:r>
                        <a:rPr sz="1300" b="0">
                          <a:solidFill>
                            <a:srgbClr val="1A1F2B"/>
                          </a:solidFill>
                          <a:latin typeface="Calibri"/>
                        </a:rPr>
                        <a:t>Implementing a feature ad-hoc with instructions</a:t>
                      </a:r>
                    </a:p>
                  </a:txBody>
                  <a:tcPr marL="109728" marR="109728">
                    <a:solidFill>
                      <a:srgbClr val="FFFFFF"/>
                    </a:solidFill>
                  </a:tcPr>
                </a:tc>
                <a:tc>
                  <a:txBody>
                    <a:bodyPr wrap="square"/>
                    <a:lstStyle/>
                    <a:p>
                      <a:r>
                        <a:rPr sz="1300" b="0">
                          <a:solidFill>
                            <a:srgbClr val="1A1F2B"/>
                          </a:solidFill>
                          <a:latin typeface="Calibri"/>
                        </a:rPr>
                        <a:t>30</a:t>
                      </a:r>
                    </a:p>
                  </a:txBody>
                  <a:tcPr marL="109728" marR="109728">
                    <a:solidFill>
                      <a:srgbClr val="FFFFFF"/>
                    </a:solidFill>
                  </a:tcPr>
                </a:tc>
                <a:tc>
                  <a:txBody>
                    <a:bodyPr wrap="square"/>
                    <a:lstStyle/>
                    <a:p>
                      <a:r>
                        <a:rPr sz="1300" b="0">
                          <a:solidFill>
                            <a:srgbClr val="1A1F2B"/>
                          </a:solidFill>
                          <a:latin typeface="Calibri"/>
                        </a:rPr>
                        <a:t>exercise-3</a:t>
                      </a:r>
                    </a:p>
                  </a:txBody>
                  <a:tcPr marL="109728" marR="109728">
                    <a:solidFill>
                      <a:srgbClr val="FFFFFF"/>
                    </a:solidFill>
                  </a:tcPr>
                </a:tc>
              </a:tr>
              <a:tr h="365760">
                <a:tc>
                  <a:txBody>
                    <a:bodyPr wrap="square"/>
                    <a:lstStyle/>
                    <a:p>
                      <a:r>
                        <a:rPr sz="1300" b="0">
                          <a:solidFill>
                            <a:srgbClr val="1A1F2B"/>
                          </a:solidFill>
                          <a:latin typeface="Calibri"/>
                        </a:rPr>
                        <a:t/>
                      </a:r>
                    </a:p>
                  </a:txBody>
                  <a:tcPr marL="109728" marR="109728">
                    <a:solidFill>
                      <a:srgbClr val="F4F6F9"/>
                    </a:solidFill>
                  </a:tcPr>
                </a:tc>
                <a:tc>
                  <a:txBody>
                    <a:bodyPr wrap="square"/>
                    <a:lstStyle/>
                    <a:p>
                      <a:r>
                        <a:rPr sz="1300" b="0">
                          <a:solidFill>
                            <a:srgbClr val="1A1F2B"/>
                          </a:solidFill>
                          <a:latin typeface="Calibri"/>
                        </a:rPr>
                        <a:t>Debrief 3</a:t>
                      </a:r>
                    </a:p>
                  </a:txBody>
                  <a:tcPr marL="109728" marR="109728">
                    <a:solidFill>
                      <a:srgbClr val="F4F6F9"/>
                    </a:solidFill>
                  </a:tcPr>
                </a:tc>
                <a:tc>
                  <a:txBody>
                    <a:bodyPr wrap="square"/>
                    <a:lstStyle/>
                    <a:p>
                      <a:r>
                        <a:rPr sz="1300" b="0">
                          <a:solidFill>
                            <a:srgbClr val="1A1F2B"/>
                          </a:solidFill>
                          <a:latin typeface="Calibri"/>
                        </a:rPr>
                        <a:t>5</a:t>
                      </a:r>
                    </a:p>
                  </a:txBody>
                  <a:tcPr marL="109728" marR="109728">
                    <a:solidFill>
                      <a:srgbClr val="F4F6F9"/>
                    </a:solidFill>
                  </a:tcPr>
                </a:tc>
                <a:tc>
                  <a:txBody>
                    <a:bodyPr wrap="square"/>
                    <a:lstStyle/>
                    <a:p>
                      <a:r>
                        <a:rPr sz="1300" b="0">
                          <a:solidFill>
                            <a:srgbClr val="1A1F2B"/>
                          </a:solidFill>
                          <a:latin typeface="Calibri"/>
                        </a:rPr>
                        <a:t/>
                      </a:r>
                    </a:p>
                  </a:txBody>
                  <a:tcPr marL="109728" marR="109728">
                    <a:solidFill>
                      <a:srgbClr val="F4F6F9"/>
                    </a:solidFill>
                  </a:tcPr>
                </a:tc>
              </a:tr>
              <a:tr h="365760">
                <a:tc>
                  <a:txBody>
                    <a:bodyPr wrap="square"/>
                    <a:lstStyle/>
                    <a:p>
                      <a:r>
                        <a:rPr sz="1300" b="1">
                          <a:solidFill>
                            <a:srgbClr val="1A1F2B"/>
                          </a:solidFill>
                          <a:latin typeface="Calibri"/>
                        </a:rPr>
                        <a:t>4</a:t>
                      </a:r>
                    </a:p>
                  </a:txBody>
                  <a:tcPr marL="109728" marR="109728">
                    <a:solidFill>
                      <a:srgbClr val="FFFFFF"/>
                    </a:solidFill>
                  </a:tcPr>
                </a:tc>
                <a:tc>
                  <a:txBody>
                    <a:bodyPr wrap="square"/>
                    <a:lstStyle/>
                    <a:p>
                      <a:r>
                        <a:rPr sz="1300" b="0">
                          <a:solidFill>
                            <a:srgbClr val="1A1F2B"/>
                          </a:solidFill>
                          <a:latin typeface="Calibri"/>
                        </a:rPr>
                        <a:t>Refine → plan → implement cycle</a:t>
                      </a:r>
                    </a:p>
                  </a:txBody>
                  <a:tcPr marL="109728" marR="109728">
                    <a:solidFill>
                      <a:srgbClr val="FFFFFF"/>
                    </a:solidFill>
                  </a:tcPr>
                </a:tc>
                <a:tc>
                  <a:txBody>
                    <a:bodyPr wrap="square"/>
                    <a:lstStyle/>
                    <a:p>
                      <a:r>
                        <a:rPr sz="1300" b="0">
                          <a:solidFill>
                            <a:srgbClr val="1A1F2B"/>
                          </a:solidFill>
                          <a:latin typeface="Calibri"/>
                        </a:rPr>
                        <a:t>35</a:t>
                      </a:r>
                    </a:p>
                  </a:txBody>
                  <a:tcPr marL="109728" marR="109728">
                    <a:solidFill>
                      <a:srgbClr val="FFFFFF"/>
                    </a:solidFill>
                  </a:tcPr>
                </a:tc>
                <a:tc>
                  <a:txBody>
                    <a:bodyPr wrap="square"/>
                    <a:lstStyle/>
                    <a:p>
                      <a:r>
                        <a:rPr sz="1300" b="0">
                          <a:solidFill>
                            <a:srgbClr val="1A1F2B"/>
                          </a:solidFill>
                          <a:latin typeface="Calibri"/>
                        </a:rPr>
                        <a:t>exercise-4</a:t>
                      </a:r>
                    </a:p>
                  </a:txBody>
                  <a:tcPr marL="109728" marR="109728">
                    <a:solidFill>
                      <a:srgbClr val="FFFFFF"/>
                    </a:solidFill>
                  </a:tcPr>
                </a:tc>
              </a:tr>
              <a:tr h="365760">
                <a:tc>
                  <a:txBody>
                    <a:bodyPr wrap="square"/>
                    <a:lstStyle/>
                    <a:p>
                      <a:r>
                        <a:rPr sz="1300" b="0">
                          <a:solidFill>
                            <a:srgbClr val="1A1F2B"/>
                          </a:solidFill>
                          <a:latin typeface="Calibri"/>
                        </a:rPr>
                        <a:t/>
                      </a:r>
                    </a:p>
                  </a:txBody>
                  <a:tcPr marL="109728" marR="109728">
                    <a:solidFill>
                      <a:srgbClr val="F4F6F9"/>
                    </a:solidFill>
                  </a:tcPr>
                </a:tc>
                <a:tc>
                  <a:txBody>
                    <a:bodyPr wrap="square"/>
                    <a:lstStyle/>
                    <a:p>
                      <a:r>
                        <a:rPr sz="1300" b="0">
                          <a:solidFill>
                            <a:srgbClr val="1A1F2B"/>
                          </a:solidFill>
                          <a:latin typeface="Calibri"/>
                        </a:rPr>
                        <a:t>Debrief 4 + close</a:t>
                      </a:r>
                    </a:p>
                  </a:txBody>
                  <a:tcPr marL="109728" marR="109728">
                    <a:solidFill>
                      <a:srgbClr val="F4F6F9"/>
                    </a:solidFill>
                  </a:tcPr>
                </a:tc>
                <a:tc>
                  <a:txBody>
                    <a:bodyPr wrap="square"/>
                    <a:lstStyle/>
                    <a:p>
                      <a:r>
                        <a:rPr sz="1300" b="0">
                          <a:solidFill>
                            <a:srgbClr val="1A1F2B"/>
                          </a:solidFill>
                          <a:latin typeface="Calibri"/>
                        </a:rPr>
                        <a:t>5</a:t>
                      </a:r>
                    </a:p>
                  </a:txBody>
                  <a:tcPr marL="109728" marR="109728">
                    <a:solidFill>
                      <a:srgbClr val="F4F6F9"/>
                    </a:solidFill>
                  </a:tcPr>
                </a:tc>
                <a:tc>
                  <a:txBody>
                    <a:bodyPr wrap="square"/>
                    <a:lstStyle/>
                    <a:p>
                      <a:r>
                        <a:rPr sz="1300" b="0">
                          <a:solidFill>
                            <a:srgbClr val="1A1F2B"/>
                          </a:solidFill>
                          <a:latin typeface="Calibri"/>
                        </a:rPr>
                        <a:t/>
                      </a:r>
                    </a:p>
                  </a:txBody>
                  <a:tcPr marL="109728" marR="109728">
                    <a:solidFill>
                      <a:srgbClr val="F4F6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FACILITATOR</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The arc — say this out loud at the debriefs</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Ex 1 — instructions change what Copilot knows, not just how it talks</a:t>
            </a:r>
          </a:p>
          <a:p>
            <a:pPr algn="l">
              <a:lnSpc>
                <a:spcPct val="108000"/>
              </a:lnSpc>
              <a:spcBef>
                <a:spcPts val="300"/>
              </a:spcBef>
            </a:pPr>
            <a:r>
              <a:rPr sz="1600" b="0">
                <a:solidFill>
                  <a:srgbClr val="5B6474"/>
                </a:solidFill>
                <a:latin typeface="Calibri"/>
              </a:rPr>
              <a:t>     Behavioral vs structural instructions</a:t>
            </a:r>
          </a:p>
          <a:p>
            <a:pPr algn="l">
              <a:lnSpc>
                <a:spcPct val="108000"/>
              </a:lnSpc>
              <a:spcBef>
                <a:spcPts val="1700"/>
              </a:spcBef>
            </a:pPr>
            <a:r>
              <a:rPr sz="2000" b="1">
                <a:solidFill>
                  <a:srgbClr val="1A1F2B"/>
                </a:solidFill>
                <a:latin typeface="Calibri"/>
              </a:rPr>
              <a:t>•  Ex 2 — no instructions, one-line ticket: output is a lottery</a:t>
            </a:r>
          </a:p>
          <a:p>
            <a:pPr algn="l">
              <a:lnSpc>
                <a:spcPct val="108000"/>
              </a:lnSpc>
              <a:spcBef>
                <a:spcPts val="300"/>
              </a:spcBef>
            </a:pPr>
            <a:r>
              <a:rPr sz="1600" b="0">
                <a:solidFill>
                  <a:srgbClr val="5B6474"/>
                </a:solidFill>
                <a:latin typeface="Calibri"/>
              </a:rPr>
              <a:t>     A better model narrows the lottery. It is still a lottery.</a:t>
            </a:r>
          </a:p>
          <a:p>
            <a:pPr algn="l">
              <a:lnSpc>
                <a:spcPct val="108000"/>
              </a:lnSpc>
              <a:spcBef>
                <a:spcPts val="1700"/>
              </a:spcBef>
            </a:pPr>
            <a:r>
              <a:rPr sz="2000" b="1">
                <a:solidFill>
                  <a:srgbClr val="1A1F2B"/>
                </a:solidFill>
                <a:latin typeface="Calibri"/>
              </a:rPr>
              <a:t>•  Ex 3 — instructions and fitness functions raise the floor</a:t>
            </a:r>
          </a:p>
          <a:p>
            <a:pPr algn="l">
              <a:lnSpc>
                <a:spcPct val="108000"/>
              </a:lnSpc>
              <a:spcBef>
                <a:spcPts val="300"/>
              </a:spcBef>
            </a:pPr>
            <a:r>
              <a:rPr sz="1600" b="0">
                <a:solidFill>
                  <a:srgbClr val="5B6474"/>
                </a:solidFill>
                <a:latin typeface="Calibri"/>
              </a:rPr>
              <a:t>     The ceiling does not move, because the ticket is still one line</a:t>
            </a:r>
          </a:p>
          <a:p>
            <a:pPr algn="l">
              <a:lnSpc>
                <a:spcPct val="108000"/>
              </a:lnSpc>
              <a:spcBef>
                <a:spcPts val="1700"/>
              </a:spcBef>
            </a:pPr>
            <a:r>
              <a:rPr sz="2000" b="1">
                <a:solidFill>
                  <a:srgbClr val="1A1F2B"/>
                </a:solidFill>
                <a:latin typeface="Calibri"/>
              </a:rPr>
              <a:t>•  Ex 4 — the missing ingredient was never the prompt or the model</a:t>
            </a:r>
          </a:p>
          <a:p>
            <a:pPr algn="l">
              <a:lnSpc>
                <a:spcPct val="108000"/>
              </a:lnSpc>
              <a:spcBef>
                <a:spcPts val="300"/>
              </a:spcBef>
            </a:pPr>
            <a:r>
              <a:rPr sz="1600" b="0">
                <a:solidFill>
                  <a:srgbClr val="5B6474"/>
                </a:solidFill>
                <a:latin typeface="Calibri"/>
              </a:rPr>
              <a:t>     It was that nobody had decided what to build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SETUP</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Branch model — each branch is a standalone snapshot</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77240" y="2084831"/>
          <a:ext cx="10637212" cy="2304288"/>
        </p:xfrm>
        <a:graphic>
          <a:graphicData uri="http://schemas.openxmlformats.org/drawingml/2006/table">
            <a:tbl>
              <a:tblPr firstRow="1" bandRow="1">
                <a:tableStyleId>{5C22544A-7EE6-4342-B048-85BDC9FD1C3A}</a:tableStyleId>
              </a:tblPr>
              <a:tblGrid>
                <a:gridCol w="2085728"/>
                <a:gridCol w="1668582"/>
                <a:gridCol w="1564296"/>
                <a:gridCol w="2085728"/>
                <a:gridCol w="1877155"/>
                <a:gridCol w="1355723"/>
              </a:tblGrid>
              <a:tr h="384048">
                <a:tc>
                  <a:txBody>
                    <a:bodyPr wrap="square"/>
                    <a:lstStyle/>
                    <a:p>
                      <a:r>
                        <a:rPr sz="1400" b="1">
                          <a:solidFill>
                            <a:srgbClr val="FFFFFF"/>
                          </a:solidFill>
                          <a:latin typeface="Calibri"/>
                        </a:rPr>
                        <a:t>Branch</a:t>
                      </a:r>
                    </a:p>
                  </a:txBody>
                  <a:tcPr marL="109728" marR="109728">
                    <a:solidFill>
                      <a:srgbClr val="1A1F2B"/>
                    </a:solidFill>
                  </a:tcPr>
                </a:tc>
                <a:tc>
                  <a:txBody>
                    <a:bodyPr wrap="square"/>
                    <a:lstStyle/>
                    <a:p>
                      <a:r>
                        <a:rPr sz="1400" b="1">
                          <a:solidFill>
                            <a:srgbClr val="FFFFFF"/>
                          </a:solidFill>
                          <a:latin typeface="Calibri"/>
                        </a:rPr>
                        <a:t>Instructions</a:t>
                      </a:r>
                    </a:p>
                  </a:txBody>
                  <a:tcPr marL="109728" marR="109728">
                    <a:solidFill>
                      <a:srgbClr val="1A1F2B"/>
                    </a:solidFill>
                  </a:tcPr>
                </a:tc>
                <a:tc>
                  <a:txBody>
                    <a:bodyPr wrap="square"/>
                    <a:lstStyle/>
                    <a:p>
                      <a:r>
                        <a:rPr sz="1400" b="1">
                          <a:solidFill>
                            <a:srgbClr val="FFFFFF"/>
                          </a:solidFill>
                          <a:latin typeface="Calibri"/>
                        </a:rPr>
                        <a:t>OVERVIEW</a:t>
                      </a:r>
                    </a:p>
                  </a:txBody>
                  <a:tcPr marL="109728" marR="109728">
                    <a:solidFill>
                      <a:srgbClr val="1A1F2B"/>
                    </a:solidFill>
                  </a:tcPr>
                </a:tc>
                <a:tc>
                  <a:txBody>
                    <a:bodyPr wrap="square"/>
                    <a:lstStyle/>
                    <a:p>
                      <a:r>
                        <a:rPr sz="1400" b="1">
                          <a:solidFill>
                            <a:srgbClr val="FFFFFF"/>
                          </a:solidFill>
                          <a:latin typeface="Calibri"/>
                        </a:rPr>
                        <a:t>Guidelines</a:t>
                      </a:r>
                    </a:p>
                  </a:txBody>
                  <a:tcPr marL="109728" marR="109728">
                    <a:solidFill>
                      <a:srgbClr val="1A1F2B"/>
                    </a:solidFill>
                  </a:tcPr>
                </a:tc>
                <a:tc>
                  <a:txBody>
                    <a:bodyPr wrap="square"/>
                    <a:lstStyle/>
                    <a:p>
                      <a:r>
                        <a:rPr sz="1400" b="1">
                          <a:solidFill>
                            <a:srgbClr val="FFFFFF"/>
                          </a:solidFill>
                          <a:latin typeface="Calibri"/>
                        </a:rPr>
                        <a:t>Prompt files</a:t>
                      </a:r>
                    </a:p>
                  </a:txBody>
                  <a:tcPr marL="109728" marR="109728">
                    <a:solidFill>
                      <a:srgbClr val="1A1F2B"/>
                    </a:solidFill>
                  </a:tcPr>
                </a:tc>
                <a:tc>
                  <a:txBody>
                    <a:bodyPr wrap="square"/>
                    <a:lstStyle/>
                    <a:p>
                      <a:r>
                        <a:rPr sz="1400" b="1">
                          <a:solidFill>
                            <a:srgbClr val="FFFFFF"/>
                          </a:solidFill>
                          <a:latin typeface="Calibri"/>
                        </a:rPr>
                        <a:t>fitness.sh</a:t>
                      </a:r>
                    </a:p>
                  </a:txBody>
                  <a:tcPr marL="109728" marR="109728">
                    <a:solidFill>
                      <a:srgbClr val="1A1F2B"/>
                    </a:solidFill>
                  </a:tcPr>
                </a:tc>
              </a:tr>
              <a:tr h="384048">
                <a:tc>
                  <a:txBody>
                    <a:bodyPr wrap="square"/>
                    <a:lstStyle/>
                    <a:p>
                      <a:r>
                        <a:rPr sz="1300" b="1">
                          <a:solidFill>
                            <a:srgbClr val="1A1F2B"/>
                          </a:solidFill>
                          <a:latin typeface="Calibri"/>
                        </a:rPr>
                        <a:t>exercise-1</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r>
              <a:tr h="384048">
                <a:tc>
                  <a:txBody>
                    <a:bodyPr wrap="square"/>
                    <a:lstStyle/>
                    <a:p>
                      <a:r>
                        <a:rPr sz="1300" b="1">
                          <a:solidFill>
                            <a:srgbClr val="1A1F2B"/>
                          </a:solidFill>
                          <a:latin typeface="Calibri"/>
                        </a:rPr>
                        <a:t>exercise-2</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r>
              <a:tr h="384048">
                <a:tc>
                  <a:txBody>
                    <a:bodyPr wrap="square"/>
                    <a:lstStyle/>
                    <a:p>
                      <a:r>
                        <a:rPr sz="1300" b="1">
                          <a:solidFill>
                            <a:srgbClr val="1A1F2B"/>
                          </a:solidFill>
                          <a:latin typeface="Calibri"/>
                        </a:rPr>
                        <a:t>exercise-3</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 they write it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r>
              <a:tr h="384048">
                <a:tc>
                  <a:txBody>
                    <a:bodyPr wrap="square"/>
                    <a:lstStyle/>
                    <a:p>
                      <a:r>
                        <a:rPr sz="1300" b="1">
                          <a:solidFill>
                            <a:srgbClr val="1A1F2B"/>
                          </a:solidFill>
                          <a:latin typeface="Calibri"/>
                        </a:rPr>
                        <a:t>exercise-4</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c>
                  <a:txBody>
                    <a:bodyPr wrap="square"/>
                    <a:lstStyle/>
                    <a:p>
                      <a:r>
                        <a:rPr sz="1300" b="0">
                          <a:solidFill>
                            <a:srgbClr val="1A1F2B"/>
                          </a:solidFill>
                          <a:latin typeface="Calibri"/>
                        </a:rPr>
                        <a:t>✓</a:t>
                      </a:r>
                    </a:p>
                  </a:txBody>
                  <a:tcPr marL="109728" marR="109728">
                    <a:solidFill>
                      <a:srgbClr val="F4F6F9"/>
                    </a:solidFill>
                  </a:tcPr>
                </a:tc>
              </a:tr>
              <a:tr h="384048">
                <a:tc>
                  <a:txBody>
                    <a:bodyPr wrap="square"/>
                    <a:lstStyle/>
                    <a:p>
                      <a:r>
                        <a:rPr sz="1300" b="1">
                          <a:solidFill>
                            <a:srgbClr val="1A1F2B"/>
                          </a:solidFill>
                          <a:latin typeface="Calibri"/>
                        </a:rPr>
                        <a:t>main</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c>
                  <a:txBody>
                    <a:bodyPr wrap="square"/>
                    <a:lstStyle/>
                    <a:p>
                      <a:r>
                        <a:rPr sz="1300" b="0">
                          <a:solidFill>
                            <a:srgbClr val="1A1F2B"/>
                          </a:solidFill>
                          <a:latin typeface="Calibri"/>
                        </a:rPr>
                        <a:t>✓ + facilitator guide</a:t>
                      </a:r>
                    </a:p>
                  </a:txBody>
                  <a:tcPr marL="109728" marR="109728">
                    <a:solidFill>
                      <a:srgbClr val="FFFFFF"/>
                    </a:solidFill>
                  </a:tcPr>
                </a:tc>
                <a:tc>
                  <a:txBody>
                    <a:bodyPr wrap="square"/>
                    <a:lstStyle/>
                    <a:p>
                      <a:r>
                        <a:rPr sz="1300" b="0">
                          <a:solidFill>
                            <a:srgbClr val="1A1F2B"/>
                          </a:solidFill>
                          <a:latin typeface="Calibri"/>
                        </a:rPr>
                        <a:t>✓</a:t>
                      </a:r>
                    </a:p>
                  </a:txBody>
                  <a:tcPr marL="109728" marR="109728">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FACILITATOR · 2H25 RUN</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What the short slot changed</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Ex 2 — you run the repeat, on the projector</a:t>
            </a:r>
          </a:p>
          <a:p>
            <a:pPr algn="l">
              <a:lnSpc>
                <a:spcPct val="108000"/>
              </a:lnSpc>
              <a:spcBef>
                <a:spcPts val="300"/>
              </a:spcBef>
            </a:pPr>
            <a:r>
              <a:rPr sz="1600" b="0">
                <a:solidFill>
                  <a:srgbClr val="5B6474"/>
                </a:solidFill>
                <a:latin typeface="Calibri"/>
              </a:rPr>
              <a:t>     Same prompt, same model, third time. Diff it live against your step-4 run.</a:t>
            </a:r>
          </a:p>
          <a:p>
            <a:pPr algn="l">
              <a:lnSpc>
                <a:spcPct val="108000"/>
              </a:lnSpc>
              <a:spcBef>
                <a:spcPts val="1700"/>
              </a:spcBef>
            </a:pPr>
            <a:r>
              <a:rPr sz="2000" b="1">
                <a:solidFill>
                  <a:srgbClr val="1A1F2B"/>
                </a:solidFill>
                <a:latin typeface="Calibri"/>
              </a:rPr>
              <a:t>•  Ex 4 step 5 — reading, not a second lab</a:t>
            </a:r>
          </a:p>
          <a:p>
            <a:pPr algn="l">
              <a:lnSpc>
                <a:spcPct val="108000"/>
              </a:lnSpc>
              <a:spcBef>
                <a:spcPts val="300"/>
              </a:spcBef>
            </a:pPr>
            <a:r>
              <a:rPr sz="1600" b="0">
                <a:solidFill>
                  <a:srgbClr val="5B6474"/>
                </a:solidFill>
                <a:latin typeface="Calibri"/>
              </a:rPr>
              <a:t>     They open the other two tickets and discuss what Refine would find</a:t>
            </a:r>
          </a:p>
          <a:p>
            <a:pPr algn="l">
              <a:lnSpc>
                <a:spcPct val="108000"/>
              </a:lnSpc>
              <a:spcBef>
                <a:spcPts val="1700"/>
              </a:spcBef>
            </a:pPr>
            <a:r>
              <a:rPr sz="2000" b="1">
                <a:solidFill>
                  <a:srgbClr val="1A1F2B"/>
                </a:solidFill>
                <a:latin typeface="Calibri"/>
              </a:rPr>
              <a:t>•  Debriefs — 5 minutes, two questions</a:t>
            </a:r>
          </a:p>
          <a:p>
            <a:pPr algn="l">
              <a:lnSpc>
                <a:spcPct val="108000"/>
              </a:lnSpc>
              <a:spcBef>
                <a:spcPts val="300"/>
              </a:spcBef>
            </a:pPr>
            <a:r>
              <a:rPr sz="1600" b="0">
                <a:solidFill>
                  <a:srgbClr val="5B6474"/>
                </a:solidFill>
                <a:latin typeface="Calibri"/>
              </a:rPr>
              <a:t>     Each debrief slide marks the one you must not skip</a:t>
            </a:r>
          </a:p>
          <a:p>
            <a:pPr algn="l">
              <a:lnSpc>
                <a:spcPct val="108000"/>
              </a:lnSpc>
              <a:spcBef>
                <a:spcPts val="1700"/>
              </a:spcBef>
            </a:pPr>
            <a:r>
              <a:rPr sz="2000" b="1">
                <a:solidFill>
                  <a:srgbClr val="1A1F2B"/>
                </a:solidFill>
                <a:latin typeface="Calibri"/>
              </a:rPr>
              <a:t>•  Ex 3 — untouched</a:t>
            </a:r>
          </a:p>
          <a:p>
            <a:pPr algn="l">
              <a:lnSpc>
                <a:spcPct val="108000"/>
              </a:lnSpc>
              <a:spcBef>
                <a:spcPts val="300"/>
              </a:spcBef>
            </a:pPr>
            <a:r>
              <a:rPr sz="1600" b="0">
                <a:solidFill>
                  <a:srgbClr val="5B6474"/>
                </a:solidFill>
                <a:latin typeface="Calibri"/>
              </a:rPr>
              <a:t>     Keeps all 30 minutes and all four runs. It is the load-bearing comparison.</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If you are behind entering Exercise 4, take it from step 6 — never from Refine.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86000"/>
            <a:ext cx="10637215" cy="640080"/>
          </a:xfrm>
          <a:prstGeom prst="rect">
            <a:avLst/>
          </a:prstGeom>
          <a:noFill/>
        </p:spPr>
        <p:txBody>
          <a:bodyPr wrap="square" lIns="0" rIns="0" tIns="0" bIns="0">
            <a:spAutoFit/>
          </a:bodyPr>
          <a:lstStyle/>
          <a:p>
            <a:pPr algn="l">
              <a:lnSpc>
                <a:spcPct val="100000"/>
              </a:lnSpc>
              <a:spcBef>
                <a:spcPts val="0"/>
              </a:spcBef>
            </a:pPr>
            <a:r>
              <a:rPr sz="1700" b="1">
                <a:solidFill>
                  <a:srgbClr val="2563EB"/>
                </a:solidFill>
                <a:latin typeface="Calibri"/>
              </a:rPr>
              <a:t>INTRO · 10 min</a:t>
            </a:r>
          </a:p>
        </p:txBody>
      </p:sp>
      <p:sp>
        <p:nvSpPr>
          <p:cNvPr id="5" name="TextBox 4"/>
          <p:cNvSpPr txBox="1"/>
          <p:nvPr/>
        </p:nvSpPr>
        <p:spPr>
          <a:xfrm>
            <a:off x="777240" y="2834640"/>
            <a:ext cx="10637215" cy="1188720"/>
          </a:xfrm>
          <a:prstGeom prst="rect">
            <a:avLst/>
          </a:prstGeom>
          <a:noFill/>
        </p:spPr>
        <p:txBody>
          <a:bodyPr wrap="square" lIns="0" rIns="0" tIns="0" bIns="0">
            <a:spAutoFit/>
          </a:bodyPr>
          <a:lstStyle/>
          <a:p>
            <a:pPr algn="l">
              <a:lnSpc>
                <a:spcPct val="100000"/>
              </a:lnSpc>
              <a:spcBef>
                <a:spcPts val="0"/>
              </a:spcBef>
            </a:pPr>
            <a:r>
              <a:rPr sz="4000" b="1">
                <a:solidFill>
                  <a:srgbClr val="1A1F2B"/>
                </a:solidFill>
                <a:latin typeface="Calibri"/>
              </a:rPr>
              <a:t>What Copilot is actually doing</a:t>
            </a:r>
          </a:p>
        </p:txBody>
      </p:sp>
      <p:sp>
        <p:nvSpPr>
          <p:cNvPr id="6" name="TextBox 5"/>
          <p:cNvSpPr txBox="1"/>
          <p:nvPr/>
        </p:nvSpPr>
        <p:spPr>
          <a:xfrm>
            <a:off x="777240" y="4023360"/>
            <a:ext cx="10637215" cy="914400"/>
          </a:xfrm>
          <a:prstGeom prst="rect">
            <a:avLst/>
          </a:prstGeom>
          <a:noFill/>
        </p:spPr>
        <p:txBody>
          <a:bodyPr wrap="square" lIns="0" rIns="0" tIns="0" bIns="0">
            <a:spAutoFit/>
          </a:bodyPr>
          <a:lstStyle/>
          <a:p>
            <a:pPr algn="l">
              <a:lnSpc>
                <a:spcPct val="100000"/>
              </a:lnSpc>
              <a:spcBef>
                <a:spcPts val="0"/>
              </a:spcBef>
            </a:pPr>
            <a:r>
              <a:rPr sz="1900" b="0">
                <a:solidFill>
                  <a:srgbClr val="5B6474"/>
                </a:solidFill>
                <a:latin typeface="Calibri"/>
              </a:rPr>
              <a:t>Context in, tokens out — and everything you control is on the input side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INTRO</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Two ways to change the answer</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084831"/>
            <a:ext cx="5044287" cy="3566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31720"/>
            <a:ext cx="4495647" cy="457200"/>
          </a:xfrm>
          <a:prstGeom prst="rect">
            <a:avLst/>
          </a:prstGeom>
          <a:noFill/>
        </p:spPr>
        <p:txBody>
          <a:bodyPr wrap="square" lIns="0" rIns="0" tIns="0" bIns="0">
            <a:spAutoFit/>
          </a:bodyPr>
          <a:lstStyle/>
          <a:p>
            <a:pPr algn="l">
              <a:lnSpc>
                <a:spcPct val="100000"/>
              </a:lnSpc>
              <a:spcBef>
                <a:spcPts val="0"/>
              </a:spcBef>
            </a:pPr>
            <a:r>
              <a:rPr sz="1900" b="1">
                <a:solidFill>
                  <a:srgbClr val="C2410C"/>
                </a:solidFill>
                <a:latin typeface="Calibri"/>
              </a:rPr>
              <a:t>Behavioral instructions</a:t>
            </a:r>
          </a:p>
        </p:txBody>
      </p:sp>
      <p:sp>
        <p:nvSpPr>
          <p:cNvPr id="8" name="TextBox 7"/>
          <p:cNvSpPr txBox="1"/>
          <p:nvPr/>
        </p:nvSpPr>
        <p:spPr>
          <a:xfrm>
            <a:off x="1051560" y="2880360"/>
            <a:ext cx="4495647" cy="2743200"/>
          </a:xfrm>
          <a:prstGeom prst="rect">
            <a:avLst/>
          </a:prstGeom>
          <a:noFill/>
        </p:spPr>
        <p:txBody>
          <a:bodyPr wrap="square" lIns="0" rIns="0" tIns="0" bIns="0">
            <a:spAutoFit/>
          </a:bodyPr>
          <a:lstStyle/>
          <a:p>
            <a:pPr algn="l">
              <a:lnSpc>
                <a:spcPct val="110000"/>
              </a:lnSpc>
              <a:spcBef>
                <a:spcPts val="0"/>
              </a:spcBef>
            </a:pPr>
            <a:r>
              <a:rPr sz="1500" b="0">
                <a:solidFill>
                  <a:srgbClr val="1A1F2B"/>
                </a:solidFill>
                <a:latin typeface="Calibri"/>
              </a:rPr>
              <a:t>•  Change how Copilot answers</a:t>
            </a:r>
          </a:p>
          <a:p>
            <a:pPr algn="l">
              <a:lnSpc>
                <a:spcPct val="110000"/>
              </a:lnSpc>
              <a:spcBef>
                <a:spcPts val="1100"/>
              </a:spcBef>
            </a:pPr>
            <a:r>
              <a:rPr sz="1500" b="0">
                <a:solidFill>
                  <a:srgbClr val="1A1F2B"/>
                </a:solidFill>
                <a:latin typeface="Calibri"/>
              </a:rPr>
              <a:t>•  Tone, length, format, what to avoid</a:t>
            </a:r>
          </a:p>
          <a:p>
            <a:pPr algn="l">
              <a:lnSpc>
                <a:spcPct val="110000"/>
              </a:lnSpc>
              <a:spcBef>
                <a:spcPts val="1100"/>
              </a:spcBef>
            </a:pPr>
            <a:r>
              <a:rPr sz="1500" b="0">
                <a:solidFill>
                  <a:srgbClr val="1A1F2B"/>
                </a:solidFill>
                <a:latin typeface="Calibri"/>
              </a:rPr>
              <a:t>•  Add no new facts about your system</a:t>
            </a:r>
          </a:p>
          <a:p>
            <a:pPr algn="l">
              <a:lnSpc>
                <a:spcPct val="110000"/>
              </a:lnSpc>
              <a:spcBef>
                <a:spcPts val="1100"/>
              </a:spcBef>
            </a:pPr>
            <a:r>
              <a:rPr sz="1500" b="0">
                <a:solidFill>
                  <a:srgbClr val="1A1F2B"/>
                </a:solidFill>
                <a:latin typeface="Calibri"/>
              </a:rPr>
              <a:t>•  Cost tokens on every single request</a:t>
            </a:r>
          </a:p>
          <a:p>
            <a:pPr algn="l">
              <a:lnSpc>
                <a:spcPct val="110000"/>
              </a:lnSpc>
              <a:spcBef>
                <a:spcPts val="1100"/>
              </a:spcBef>
            </a:pPr>
            <a:r>
              <a:rPr sz="1500" b="0">
                <a:solidFill>
                  <a:srgbClr val="1A1F2B"/>
                </a:solidFill>
                <a:latin typeface="Calibri"/>
              </a:rPr>
              <a:t>•  "Always respond concisely."</a:t>
            </a:r>
          </a:p>
        </p:txBody>
      </p:sp>
      <p:sp>
        <p:nvSpPr>
          <p:cNvPr id="9" name="Rectangle 8"/>
          <p:cNvSpPr/>
          <p:nvPr/>
        </p:nvSpPr>
        <p:spPr>
          <a:xfrm>
            <a:off x="6370167" y="2084831"/>
            <a:ext cx="5044287" cy="3566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44487" y="2331720"/>
            <a:ext cx="4495647" cy="457200"/>
          </a:xfrm>
          <a:prstGeom prst="rect">
            <a:avLst/>
          </a:prstGeom>
          <a:noFill/>
        </p:spPr>
        <p:txBody>
          <a:bodyPr wrap="square" lIns="0" rIns="0" tIns="0" bIns="0">
            <a:spAutoFit/>
          </a:bodyPr>
          <a:lstStyle/>
          <a:p>
            <a:pPr algn="l">
              <a:lnSpc>
                <a:spcPct val="100000"/>
              </a:lnSpc>
              <a:spcBef>
                <a:spcPts val="0"/>
              </a:spcBef>
            </a:pPr>
            <a:r>
              <a:rPr sz="1900" b="1">
                <a:solidFill>
                  <a:srgbClr val="2563EB"/>
                </a:solidFill>
                <a:latin typeface="Calibri"/>
              </a:rPr>
              <a:t>Structural instructions</a:t>
            </a:r>
          </a:p>
        </p:txBody>
      </p:sp>
      <p:sp>
        <p:nvSpPr>
          <p:cNvPr id="11" name="TextBox 10"/>
          <p:cNvSpPr txBox="1"/>
          <p:nvPr/>
        </p:nvSpPr>
        <p:spPr>
          <a:xfrm>
            <a:off x="6644487" y="2880360"/>
            <a:ext cx="4495647" cy="2743200"/>
          </a:xfrm>
          <a:prstGeom prst="rect">
            <a:avLst/>
          </a:prstGeom>
          <a:noFill/>
        </p:spPr>
        <p:txBody>
          <a:bodyPr wrap="square" lIns="0" rIns="0" tIns="0" bIns="0">
            <a:spAutoFit/>
          </a:bodyPr>
          <a:lstStyle/>
          <a:p>
            <a:pPr algn="l">
              <a:lnSpc>
                <a:spcPct val="110000"/>
              </a:lnSpc>
              <a:spcBef>
                <a:spcPts val="0"/>
              </a:spcBef>
            </a:pPr>
            <a:r>
              <a:rPr sz="1500" b="0">
                <a:solidFill>
                  <a:srgbClr val="1A1F2B"/>
                </a:solidFill>
                <a:latin typeface="Calibri"/>
              </a:rPr>
              <a:t>•  Change what Copilot knows</a:t>
            </a:r>
          </a:p>
          <a:p>
            <a:pPr algn="l">
              <a:lnSpc>
                <a:spcPct val="110000"/>
              </a:lnSpc>
              <a:spcBef>
                <a:spcPts val="1100"/>
              </a:spcBef>
            </a:pPr>
            <a:r>
              <a:rPr sz="1500" b="0">
                <a:solidFill>
                  <a:srgbClr val="1A1F2B"/>
                </a:solidFill>
                <a:latin typeface="Calibri"/>
              </a:rPr>
              <a:t>•  Architecture, conventions, the files that matter</a:t>
            </a:r>
          </a:p>
          <a:p>
            <a:pPr algn="l">
              <a:lnSpc>
                <a:spcPct val="110000"/>
              </a:lnSpc>
              <a:spcBef>
                <a:spcPts val="1100"/>
              </a:spcBef>
            </a:pPr>
            <a:r>
              <a:rPr sz="1500" b="0">
                <a:solidFill>
                  <a:srgbClr val="1A1F2B"/>
                </a:solidFill>
                <a:latin typeface="Calibri"/>
              </a:rPr>
              <a:t>•  Add facts it could not infer reliably</a:t>
            </a:r>
          </a:p>
          <a:p>
            <a:pPr algn="l">
              <a:lnSpc>
                <a:spcPct val="110000"/>
              </a:lnSpc>
              <a:spcBef>
                <a:spcPts val="1100"/>
              </a:spcBef>
            </a:pPr>
            <a:r>
              <a:rPr sz="1500" b="0">
                <a:solidFill>
                  <a:srgbClr val="1A1F2B"/>
                </a:solidFill>
                <a:latin typeface="Calibri"/>
              </a:rPr>
              <a:t>•  The ones that change accuracy</a:t>
            </a:r>
          </a:p>
          <a:p>
            <a:pPr algn="l">
              <a:lnSpc>
                <a:spcPct val="110000"/>
              </a:lnSpc>
              <a:spcBef>
                <a:spcPts val="1100"/>
              </a:spcBef>
            </a:pPr>
            <a:r>
              <a:rPr sz="1500" b="0">
                <a:solidFill>
                  <a:srgbClr val="1A1F2B"/>
                </a:solidFill>
                <a:latin typeface="Calibri"/>
              </a:rPr>
              <a:t>•  "See PROJECT_OVERVIEW.md for the request 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86000"/>
            <a:ext cx="10637215" cy="640080"/>
          </a:xfrm>
          <a:prstGeom prst="rect">
            <a:avLst/>
          </a:prstGeom>
          <a:noFill/>
        </p:spPr>
        <p:txBody>
          <a:bodyPr wrap="square" lIns="0" rIns="0" tIns="0" bIns="0">
            <a:spAutoFit/>
          </a:bodyPr>
          <a:lstStyle/>
          <a:p>
            <a:pPr algn="l">
              <a:lnSpc>
                <a:spcPct val="100000"/>
              </a:lnSpc>
              <a:spcBef>
                <a:spcPts val="0"/>
              </a:spcBef>
            </a:pPr>
            <a:r>
              <a:rPr sz="1700" b="1">
                <a:solidFill>
                  <a:srgbClr val="2563EB"/>
                </a:solidFill>
                <a:latin typeface="Calibri"/>
              </a:rPr>
              <a:t>EXERCISE 1 · 20 min</a:t>
            </a:r>
          </a:p>
        </p:txBody>
      </p:sp>
      <p:sp>
        <p:nvSpPr>
          <p:cNvPr id="5" name="TextBox 4"/>
          <p:cNvSpPr txBox="1"/>
          <p:nvPr/>
        </p:nvSpPr>
        <p:spPr>
          <a:xfrm>
            <a:off x="777240" y="2834640"/>
            <a:ext cx="10637215" cy="1188720"/>
          </a:xfrm>
          <a:prstGeom prst="rect">
            <a:avLst/>
          </a:prstGeom>
          <a:noFill/>
        </p:spPr>
        <p:txBody>
          <a:bodyPr wrap="square" lIns="0" rIns="0" tIns="0" bIns="0">
            <a:spAutoFit/>
          </a:bodyPr>
          <a:lstStyle/>
          <a:p>
            <a:pPr algn="l">
              <a:lnSpc>
                <a:spcPct val="100000"/>
              </a:lnSpc>
              <a:spcBef>
                <a:spcPts val="0"/>
              </a:spcBef>
            </a:pPr>
            <a:r>
              <a:rPr sz="4000" b="1">
                <a:solidFill>
                  <a:srgbClr val="1A1F2B"/>
                </a:solidFill>
                <a:latin typeface="Calibri"/>
              </a:rPr>
              <a:t>Exploring a codebase with and without instructions</a:t>
            </a:r>
          </a:p>
        </p:txBody>
      </p:sp>
      <p:sp>
        <p:nvSpPr>
          <p:cNvPr id="6" name="TextBox 5"/>
          <p:cNvSpPr txBox="1"/>
          <p:nvPr/>
        </p:nvSpPr>
        <p:spPr>
          <a:xfrm>
            <a:off x="777240" y="4023360"/>
            <a:ext cx="10637215" cy="914400"/>
          </a:xfrm>
          <a:prstGeom prst="rect">
            <a:avLst/>
          </a:prstGeom>
          <a:noFill/>
        </p:spPr>
        <p:txBody>
          <a:bodyPr wrap="square" lIns="0" rIns="0" tIns="0" bIns="0">
            <a:spAutoFit/>
          </a:bodyPr>
          <a:lstStyle/>
          <a:p>
            <a:pPr algn="l">
              <a:lnSpc>
                <a:spcPct val="100000"/>
              </a:lnSpc>
              <a:spcBef>
                <a:spcPts val="0"/>
              </a:spcBef>
            </a:pPr>
            <a:r>
              <a:rPr sz="1900" b="0">
                <a:solidFill>
                  <a:srgbClr val="5B6474"/>
                </a:solidFill>
                <a:latin typeface="Calibri"/>
              </a:rPr>
              <a:t>Branch: exercise-1 — no instructions file, no project overview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1 · STEPS</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Ask the same question three times</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1. Cold</a:t>
            </a:r>
          </a:p>
          <a:p>
            <a:pPr algn="l">
              <a:lnSpc>
                <a:spcPct val="108000"/>
              </a:lnSpc>
              <a:spcBef>
                <a:spcPts val="300"/>
              </a:spcBef>
            </a:pPr>
            <a:r>
              <a:rPr sz="1600" b="0">
                <a:solidFill>
                  <a:srgbClr val="5B6474"/>
                </a:solidFill>
                <a:latin typeface="Calibri"/>
              </a:rPr>
              <a:t>     "What does this code base do?" — no instructions, no files attached. Record it.</a:t>
            </a:r>
          </a:p>
          <a:p>
            <a:pPr algn="l">
              <a:lnSpc>
                <a:spcPct val="108000"/>
              </a:lnSpc>
              <a:spcBef>
                <a:spcPts val="1700"/>
              </a:spcBef>
            </a:pPr>
            <a:r>
              <a:rPr sz="2000" b="1">
                <a:solidFill>
                  <a:srgbClr val="1A1F2B"/>
                </a:solidFill>
                <a:latin typeface="Calibri"/>
              </a:rPr>
              <a:t>•  2. After a behavioral rule</a:t>
            </a:r>
          </a:p>
          <a:p>
            <a:pPr algn="l">
              <a:lnSpc>
                <a:spcPct val="108000"/>
              </a:lnSpc>
              <a:spcBef>
                <a:spcPts val="300"/>
              </a:spcBef>
            </a:pPr>
            <a:r>
              <a:rPr sz="1600" b="0">
                <a:solidFill>
                  <a:srgbClr val="5B6474"/>
                </a:solidFill>
                <a:latin typeface="Calibri"/>
              </a:rPr>
              <a:t>     Add one rule: "Always respond concisely." New chat. Ask again.</a:t>
            </a:r>
          </a:p>
          <a:p>
            <a:pPr algn="l">
              <a:lnSpc>
                <a:spcPct val="108000"/>
              </a:lnSpc>
              <a:spcBef>
                <a:spcPts val="1700"/>
              </a:spcBef>
            </a:pPr>
            <a:r>
              <a:rPr sz="2000" b="1">
                <a:solidFill>
                  <a:srgbClr val="1A1F2B"/>
                </a:solidFill>
                <a:latin typeface="Calibri"/>
              </a:rPr>
              <a:t>•  3. After a structural one</a:t>
            </a:r>
          </a:p>
          <a:p>
            <a:pPr algn="l">
              <a:lnSpc>
                <a:spcPct val="108000"/>
              </a:lnSpc>
              <a:spcBef>
                <a:spcPts val="300"/>
              </a:spcBef>
            </a:pPr>
            <a:r>
              <a:rPr sz="1600" b="0">
                <a:solidFill>
                  <a:srgbClr val="5B6474"/>
                </a:solidFill>
                <a:latin typeface="Calibri"/>
              </a:rPr>
              <a:t>     Generate PROJECT_OVERVIEW.md, review it, link it from the instructions. Ask again.</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New chat each time — otherwise you are comparing against a primed conversation.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1 · ANSWER KEY</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What Copilot invents in the generated overview</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Claims login validates the password hash — it does not (see AuthController)</a:t>
            </a:r>
          </a:p>
          <a:p>
            <a:pPr algn="l">
              <a:lnSpc>
                <a:spcPct val="108000"/>
              </a:lnSpc>
              <a:spcBef>
                <a:spcPts val="1500"/>
              </a:spcBef>
            </a:pPr>
            <a:r>
              <a:rPr sz="2000" b="0">
                <a:solidFill>
                  <a:srgbClr val="1A1F2B"/>
                </a:solidFill>
                <a:latin typeface="Calibri"/>
              </a:rPr>
              <a:t>•  Calls InMemoryDatabase "a layer you could swap for JPA" — no such abstraction exists</a:t>
            </a:r>
          </a:p>
          <a:p>
            <a:pPr algn="l">
              <a:lnSpc>
                <a:spcPct val="108000"/>
              </a:lnSpc>
              <a:spcBef>
                <a:spcPts val="1500"/>
              </a:spcBef>
            </a:pPr>
            <a:r>
              <a:rPr sz="2000" b="0">
                <a:solidFill>
                  <a:srgbClr val="1A1F2B"/>
                </a:solidFill>
                <a:latin typeface="Calibri"/>
              </a:rPr>
              <a:t>•  Invents email or notification capability from the name NotificationService</a:t>
            </a:r>
          </a:p>
          <a:p>
            <a:pPr algn="l">
              <a:lnSpc>
                <a:spcPct val="108000"/>
              </a:lnSpc>
              <a:spcBef>
                <a:spcPts val="1500"/>
              </a:spcBef>
            </a:pPr>
            <a:r>
              <a:rPr sz="2000" b="0">
                <a:solidFill>
                  <a:srgbClr val="1A1F2B"/>
                </a:solidFill>
                <a:latin typeface="Calibri"/>
              </a:rPr>
              <a:t>•  Misses that AuthInterceptor only guards /tasks/** — /health and /auth/login are open</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Plausible claims derived from names rather than code — the most useful thing to surface all 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1 · DEBRIEF</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Debrief 1</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  Which changed the answer more — the behavioral rule or the structural one?</a:t>
            </a:r>
          </a:p>
          <a:p>
            <a:pPr algn="l">
              <a:lnSpc>
                <a:spcPct val="108000"/>
              </a:lnSpc>
              <a:spcBef>
                <a:spcPts val="1500"/>
              </a:spcBef>
            </a:pPr>
            <a:r>
              <a:rPr sz="2000" b="0">
                <a:solidFill>
                  <a:srgbClr val="1A1F2B"/>
                </a:solidFill>
                <a:latin typeface="Calibri"/>
              </a:rPr>
              <a:t>•  The overview was written by Copilot from code it already had. Why does feeding it back help?</a:t>
            </a:r>
          </a:p>
          <a:p>
            <a:pPr algn="l">
              <a:lnSpc>
                <a:spcPct val="108000"/>
              </a:lnSpc>
              <a:spcBef>
                <a:spcPts val="1500"/>
              </a:spcBef>
            </a:pPr>
            <a:r>
              <a:rPr sz="2000" b="0">
                <a:solidFill>
                  <a:srgbClr val="1A1F2B"/>
                </a:solidFill>
                <a:latin typeface="Calibri"/>
              </a:rPr>
              <a:t>•  What did you have to correct in it? What does that say about an unreviewed overview?</a:t>
            </a:r>
          </a:p>
          <a:p>
            <a:pPr algn="l">
              <a:lnSpc>
                <a:spcPct val="108000"/>
              </a:lnSpc>
              <a:spcBef>
                <a:spcPts val="1500"/>
              </a:spcBef>
            </a:pPr>
            <a:r>
              <a:rPr sz="2000" b="0">
                <a:solidFill>
                  <a:srgbClr val="1A1F2B"/>
                </a:solidFill>
                <a:latin typeface="Calibri"/>
              </a:rPr>
              <a:t>•  Behavioral rules cost tokens on every request. Which would you actually keep?</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Takeaway: structural instructions change the answers — and are only as good as your review.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86000"/>
            <a:ext cx="10637215" cy="640080"/>
          </a:xfrm>
          <a:prstGeom prst="rect">
            <a:avLst/>
          </a:prstGeom>
          <a:noFill/>
        </p:spPr>
        <p:txBody>
          <a:bodyPr wrap="square" lIns="0" rIns="0" tIns="0" bIns="0">
            <a:spAutoFit/>
          </a:bodyPr>
          <a:lstStyle/>
          <a:p>
            <a:pPr algn="l">
              <a:lnSpc>
                <a:spcPct val="100000"/>
              </a:lnSpc>
              <a:spcBef>
                <a:spcPts val="0"/>
              </a:spcBef>
            </a:pPr>
            <a:r>
              <a:rPr sz="1700" b="1">
                <a:solidFill>
                  <a:srgbClr val="2563EB"/>
                </a:solidFill>
                <a:latin typeface="Calibri"/>
              </a:rPr>
              <a:t>EXERCISE 2 · 20 min</a:t>
            </a:r>
          </a:p>
        </p:txBody>
      </p:sp>
      <p:sp>
        <p:nvSpPr>
          <p:cNvPr id="5" name="TextBox 4"/>
          <p:cNvSpPr txBox="1"/>
          <p:nvPr/>
        </p:nvSpPr>
        <p:spPr>
          <a:xfrm>
            <a:off x="777240" y="2834640"/>
            <a:ext cx="10637215" cy="1188720"/>
          </a:xfrm>
          <a:prstGeom prst="rect">
            <a:avLst/>
          </a:prstGeom>
          <a:noFill/>
        </p:spPr>
        <p:txBody>
          <a:bodyPr wrap="square" lIns="0" rIns="0" tIns="0" bIns="0">
            <a:spAutoFit/>
          </a:bodyPr>
          <a:lstStyle/>
          <a:p>
            <a:pPr algn="l">
              <a:lnSpc>
                <a:spcPct val="100000"/>
              </a:lnSpc>
              <a:spcBef>
                <a:spcPts val="0"/>
              </a:spcBef>
            </a:pPr>
            <a:r>
              <a:rPr sz="4000" b="1">
                <a:solidFill>
                  <a:srgbClr val="1A1F2B"/>
                </a:solidFill>
                <a:latin typeface="Calibri"/>
              </a:rPr>
              <a:t>Vibe code a feature without instructions</a:t>
            </a:r>
          </a:p>
        </p:txBody>
      </p:sp>
      <p:sp>
        <p:nvSpPr>
          <p:cNvPr id="6" name="TextBox 5"/>
          <p:cNvSpPr txBox="1"/>
          <p:nvPr/>
        </p:nvSpPr>
        <p:spPr>
          <a:xfrm>
            <a:off x="777240" y="4023360"/>
            <a:ext cx="10637215" cy="914400"/>
          </a:xfrm>
          <a:prstGeom prst="rect">
            <a:avLst/>
          </a:prstGeom>
          <a:noFill/>
        </p:spPr>
        <p:txBody>
          <a:bodyPr wrap="square" lIns="0" rIns="0" tIns="0" bIns="0">
            <a:spAutoFit/>
          </a:bodyPr>
          <a:lstStyle/>
          <a:p>
            <a:pPr algn="l">
              <a:lnSpc>
                <a:spcPct val="100000"/>
              </a:lnSpc>
              <a:spcBef>
                <a:spcPts val="0"/>
              </a:spcBef>
            </a:pPr>
            <a:r>
              <a:rPr sz="1900" b="0">
                <a:solidFill>
                  <a:srgbClr val="5B6474"/>
                </a:solidFill>
                <a:latin typeface="Calibri"/>
              </a:rPr>
              <a:t>Branch: exercise-2 — same repo, no instructions, one-line ticket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77440"/>
            <a:ext cx="10637215" cy="2194560"/>
          </a:xfrm>
          <a:prstGeom prst="rect">
            <a:avLst/>
          </a:prstGeom>
          <a:noFill/>
        </p:spPr>
        <p:txBody>
          <a:bodyPr wrap="square" lIns="0" rIns="0" tIns="0" bIns="0">
            <a:spAutoFit/>
          </a:bodyPr>
          <a:lstStyle/>
          <a:p>
            <a:pPr algn="l">
              <a:lnSpc>
                <a:spcPct val="118000"/>
              </a:lnSpc>
              <a:spcBef>
                <a:spcPts val="0"/>
              </a:spcBef>
            </a:pPr>
            <a:r>
              <a:rPr sz="3400" b="1">
                <a:solidFill>
                  <a:srgbClr val="FFFFFF"/>
                </a:solidFill>
                <a:latin typeface="Calibri"/>
              </a:rPr>
              <a:t>"Users keep missing deadlines. Can we add reminders so they get
notified before a task is due? Should work for all tasks.
Let's ship this soon."</a:t>
            </a:r>
          </a:p>
        </p:txBody>
      </p:sp>
      <p:sp>
        <p:nvSpPr>
          <p:cNvPr id="4" name="TextBox 3"/>
          <p:cNvSpPr txBox="1"/>
          <p:nvPr/>
        </p:nvSpPr>
        <p:spPr>
          <a:xfrm>
            <a:off x="777240" y="4846320"/>
            <a:ext cx="10637215" cy="548640"/>
          </a:xfrm>
          <a:prstGeom prst="rect">
            <a:avLst/>
          </a:prstGeom>
          <a:noFill/>
        </p:spPr>
        <p:txBody>
          <a:bodyPr wrap="square" lIns="0" rIns="0" tIns="0" bIns="0">
            <a:spAutoFit/>
          </a:bodyPr>
          <a:lstStyle/>
          <a:p>
            <a:pPr algn="l">
              <a:lnSpc>
                <a:spcPct val="100000"/>
              </a:lnSpc>
              <a:spcBef>
                <a:spcPts val="0"/>
              </a:spcBef>
            </a:pPr>
            <a:r>
              <a:rPr sz="1700" b="0">
                <a:solidFill>
                  <a:srgbClr val="9FADC0"/>
                </a:solidFill>
                <a:latin typeface="Calibri"/>
              </a:rPr>
              <a:t>That is the entire ticket. This is realistic.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2 · STEPS</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Three runs, same feature — plus one you'll watch</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Run 1 — GPT-4.1</a:t>
            </a:r>
          </a:p>
          <a:p>
            <a:pPr algn="l">
              <a:lnSpc>
                <a:spcPct val="108000"/>
              </a:lnSpc>
              <a:spcBef>
                <a:spcPts val="300"/>
              </a:spcBef>
            </a:pPr>
            <a:r>
              <a:rPr sz="1600" b="0">
                <a:solidFill>
                  <a:srgbClr val="5B6474"/>
                </a:solidFill>
                <a:latin typeface="Calibri"/>
              </a:rPr>
              <a:t>     The lazy path. Don't help it, don't clarify, don't correct mid-flight.</a:t>
            </a:r>
          </a:p>
          <a:p>
            <a:pPr algn="l">
              <a:lnSpc>
                <a:spcPct val="108000"/>
              </a:lnSpc>
              <a:spcBef>
                <a:spcPts val="1700"/>
              </a:spcBef>
            </a:pPr>
            <a:r>
              <a:rPr sz="2000" b="1">
                <a:solidFill>
                  <a:srgbClr val="1A1F2B"/>
                </a:solidFill>
                <a:latin typeface="Calibri"/>
              </a:rPr>
              <a:t>•  Run 2 — a premium model</a:t>
            </a:r>
          </a:p>
          <a:p>
            <a:pPr algn="l">
              <a:lnSpc>
                <a:spcPct val="108000"/>
              </a:lnSpc>
              <a:spcBef>
                <a:spcPts val="300"/>
              </a:spcBef>
            </a:pPr>
            <a:r>
              <a:rPr sz="1600" b="0">
                <a:solidFill>
                  <a:srgbClr val="5B6474"/>
                </a:solidFill>
                <a:latin typeface="Calibri"/>
              </a:rPr>
              <a:t>     Same prompt, word for word. Note the differences specifically.</a:t>
            </a:r>
          </a:p>
          <a:p>
            <a:pPr algn="l">
              <a:lnSpc>
                <a:spcPct val="108000"/>
              </a:lnSpc>
              <a:spcBef>
                <a:spcPts val="1700"/>
              </a:spcBef>
            </a:pPr>
            <a:r>
              <a:rPr sz="2000" b="1">
                <a:solidFill>
                  <a:srgbClr val="1A1F2B"/>
                </a:solidFill>
                <a:latin typeface="Calibri"/>
              </a:rPr>
              <a:t>•  On the projector — the same prompt again</a:t>
            </a:r>
          </a:p>
          <a:p>
            <a:pPr algn="l">
              <a:lnSpc>
                <a:spcPct val="108000"/>
              </a:lnSpc>
              <a:spcBef>
                <a:spcPts val="300"/>
              </a:spcBef>
            </a:pPr>
            <a:r>
              <a:rPr sz="1600" b="0">
                <a:solidFill>
                  <a:srgbClr val="5B6474"/>
                </a:solidFill>
                <a:latin typeface="Calibri"/>
              </a:rPr>
              <a:t>     Your facilitator runs it. Is the result the same?</a:t>
            </a:r>
          </a:p>
          <a:p>
            <a:pPr algn="l">
              <a:lnSpc>
                <a:spcPct val="108000"/>
              </a:lnSpc>
              <a:spcBef>
                <a:spcPts val="1700"/>
              </a:spcBef>
            </a:pPr>
            <a:r>
              <a:rPr sz="2000" b="1">
                <a:solidFill>
                  <a:srgbClr val="1A1F2B"/>
                </a:solidFill>
                <a:latin typeface="Calibri"/>
              </a:rPr>
              <a:t>•  Run 3 — "...using TDD"</a:t>
            </a:r>
          </a:p>
          <a:p>
            <a:pPr algn="l">
              <a:lnSpc>
                <a:spcPct val="108000"/>
              </a:lnSpc>
              <a:spcBef>
                <a:spcPts val="300"/>
              </a:spcBef>
            </a:pPr>
            <a:r>
              <a:rPr sz="1600" b="0">
                <a:solidFill>
                  <a:srgbClr val="5B6474"/>
                </a:solidFill>
                <a:latin typeface="Calibri"/>
              </a:rPr>
              <a:t>     Three extra words. Compare to all of the above.</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Commit after every run:  git add -A &amp;&amp; git commit -m "ex2: gpt-4.1, no instructions"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2 · ANSWER KEY</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What the runs typically produce</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A reminderSent field bolted onto Task, with nothing that ever fires</a:t>
            </a:r>
          </a:p>
          <a:p>
            <a:pPr algn="l">
              <a:lnSpc>
                <a:spcPct val="108000"/>
              </a:lnSpc>
              <a:spcBef>
                <a:spcPts val="1500"/>
              </a:spcBef>
            </a:pPr>
            <a:r>
              <a:rPr sz="2000" b="0">
                <a:solidFill>
                  <a:srgbClr val="1A1F2B"/>
                </a:solidFill>
                <a:latin typeface="Calibri"/>
              </a:rPr>
              <a:t>•  @Scheduled invented out of nowhere — sometimes a fabricated Quartz dependency</a:t>
            </a:r>
          </a:p>
          <a:p>
            <a:pPr algn="l">
              <a:lnSpc>
                <a:spcPct val="108000"/>
              </a:lnSpc>
              <a:spcBef>
                <a:spcPts val="1500"/>
              </a:spcBef>
            </a:pPr>
            <a:r>
              <a:rPr sz="2000" b="0">
                <a:solidFill>
                  <a:srgbClr val="1A1F2B"/>
                </a:solidFill>
                <a:latin typeface="Calibri"/>
              </a:rPr>
              <a:t>•  An email sender hallucinated behind NotificationService, with SMTP config for no server</a:t>
            </a:r>
          </a:p>
          <a:p>
            <a:pPr algn="l">
              <a:lnSpc>
                <a:spcPct val="108000"/>
              </a:lnSpc>
              <a:spcBef>
                <a:spcPts val="1500"/>
              </a:spcBef>
            </a:pPr>
            <a:r>
              <a:rPr sz="2000" b="0">
                <a:solidFill>
                  <a:srgbClr val="1A1F2B"/>
                </a:solidFill>
                <a:latin typeface="Calibri"/>
              </a:rPr>
              <a:t>•  NPE on the seeded null dueDate values — the cheapest proof it never read InMemoryDatabase</a:t>
            </a:r>
          </a:p>
          <a:p>
            <a:pPr algn="l">
              <a:lnSpc>
                <a:spcPct val="108000"/>
              </a:lnSpc>
              <a:spcBef>
                <a:spcPts val="1500"/>
              </a:spcBef>
            </a:pPr>
            <a:r>
              <a:rPr sz="2000" b="0">
                <a:solidFill>
                  <a:srgbClr val="1A1F2B"/>
                </a:solidFill>
                <a:latin typeface="Calibri"/>
              </a:rPr>
              <a:t>•  Reminders fired for t3, which is already done</a:t>
            </a:r>
          </a:p>
          <a:p>
            <a:pPr algn="l">
              <a:lnSpc>
                <a:spcPct val="108000"/>
              </a:lnSpc>
              <a:spcBef>
                <a:spcPts val="1500"/>
              </a:spcBef>
            </a:pPr>
            <a:r>
              <a:rPr sz="2000" b="0">
                <a:solidFill>
                  <a:srgbClr val="1A1F2B"/>
                </a:solidFill>
                <a:latin typeface="Calibri"/>
              </a:rPr>
              <a:t>•  GET /reminders unscoped by user, so Alice reads Bob's</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Steer at least one table to the unscoped endpoint — it maps straight onto a real incident.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2 · DEBRIEF</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The six questions every implementation answered</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What is a reminder here — in-app, email, push?</a:t>
            </a:r>
          </a:p>
          <a:p>
            <a:pPr algn="l">
              <a:lnSpc>
                <a:spcPct val="108000"/>
              </a:lnSpc>
              <a:spcBef>
                <a:spcPts val="1500"/>
              </a:spcBef>
            </a:pPr>
            <a:r>
              <a:rPr sz="2000" b="0">
                <a:solidFill>
                  <a:srgbClr val="1A1F2B"/>
                </a:solidFill>
                <a:latin typeface="Calibri"/>
              </a:rPr>
              <a:t>•  How long before the due date does it fire? Fixed, or per task?</a:t>
            </a:r>
          </a:p>
          <a:p>
            <a:pPr algn="l">
              <a:lnSpc>
                <a:spcPct val="108000"/>
              </a:lnSpc>
              <a:spcBef>
                <a:spcPts val="1500"/>
              </a:spcBef>
            </a:pPr>
            <a:r>
              <a:rPr sz="2000" b="0">
                <a:solidFill>
                  <a:srgbClr val="1A1F2B"/>
                </a:solidFill>
                <a:latin typeface="Calibri"/>
              </a:rPr>
              <a:t>•  What happens to tasks with no due date?</a:t>
            </a:r>
          </a:p>
          <a:p>
            <a:pPr algn="l">
              <a:lnSpc>
                <a:spcPct val="108000"/>
              </a:lnSpc>
              <a:spcBef>
                <a:spcPts val="1500"/>
              </a:spcBef>
            </a:pPr>
            <a:r>
              <a:rPr sz="2000" b="0">
                <a:solidFill>
                  <a:srgbClr val="1A1F2B"/>
                </a:solidFill>
                <a:latin typeface="Calibri"/>
              </a:rPr>
              <a:t>•  What happens to tasks already marked done?</a:t>
            </a:r>
          </a:p>
          <a:p>
            <a:pPr algn="l">
              <a:lnSpc>
                <a:spcPct val="108000"/>
              </a:lnSpc>
              <a:spcBef>
                <a:spcPts val="1500"/>
              </a:spcBef>
            </a:pPr>
            <a:r>
              <a:rPr sz="2000" b="0">
                <a:solidFill>
                  <a:srgbClr val="1A1F2B"/>
                </a:solidFill>
                <a:latin typeface="Calibri"/>
              </a:rPr>
              <a:t>•  Does it fire once, or keep reminding until the task is done?</a:t>
            </a:r>
          </a:p>
          <a:p>
            <a:pPr algn="l">
              <a:lnSpc>
                <a:spcPct val="108000"/>
              </a:lnSpc>
              <a:spcBef>
                <a:spcPts val="1500"/>
              </a:spcBef>
            </a:pPr>
            <a:r>
              <a:rPr sz="2000" b="0">
                <a:solidFill>
                  <a:srgbClr val="1A1F2B"/>
                </a:solidFill>
                <a:latin typeface="Calibri"/>
              </a:rPr>
              <a:t>•  Who can see or manage another user's reminders?</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The model didn't skip these decisions. It made them silently, and differently every run.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2 · DEBRIEF</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Debrief 2</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Across your attempts, how many produced a feature you would merge?</a:t>
            </a:r>
          </a:p>
          <a:p>
            <a:pPr algn="l">
              <a:lnSpc>
                <a:spcPct val="108000"/>
              </a:lnSpc>
              <a:spcBef>
                <a:spcPts val="1500"/>
              </a:spcBef>
            </a:pPr>
            <a:r>
              <a:rPr sz="2000" b="0">
                <a:solidFill>
                  <a:srgbClr val="1A1F2B"/>
                </a:solidFill>
                <a:latin typeface="Calibri"/>
              </a:rPr>
              <a:t>•  ★  Did any two runs agree on what "reminder" meant? If not, whose fault is that?</a:t>
            </a:r>
          </a:p>
          <a:p>
            <a:pPr algn="l">
              <a:lnSpc>
                <a:spcPct val="108000"/>
              </a:lnSpc>
              <a:spcBef>
                <a:spcPts val="1500"/>
              </a:spcBef>
            </a:pPr>
            <a:r>
              <a:rPr sz="2000" b="0">
                <a:solidFill>
                  <a:srgbClr val="1A1F2B"/>
                </a:solidFill>
                <a:latin typeface="Calibri"/>
              </a:rPr>
              <a:t>•  Which was the bigger lever — changing the model, or changing the prompt?</a:t>
            </a:r>
          </a:p>
          <a:p>
            <a:pPr algn="l">
              <a:lnSpc>
                <a:spcPct val="108000"/>
              </a:lnSpc>
              <a:spcBef>
                <a:spcPts val="1500"/>
              </a:spcBef>
            </a:pPr>
            <a:r>
              <a:rPr sz="2000" b="0">
                <a:solidFill>
                  <a:srgbClr val="1A1F2B"/>
                </a:solidFill>
                <a:latin typeface="Calibri"/>
              </a:rPr>
              <a:t>•  You reviewed generated code four times. How does that time compare to what generation saved?</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Takeaway: a better model narrows the variance. It does not remove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86000"/>
            <a:ext cx="10637215" cy="640080"/>
          </a:xfrm>
          <a:prstGeom prst="rect">
            <a:avLst/>
          </a:prstGeom>
          <a:noFill/>
        </p:spPr>
        <p:txBody>
          <a:bodyPr wrap="square" lIns="0" rIns="0" tIns="0" bIns="0">
            <a:spAutoFit/>
          </a:bodyPr>
          <a:lstStyle/>
          <a:p>
            <a:pPr algn="l">
              <a:lnSpc>
                <a:spcPct val="100000"/>
              </a:lnSpc>
              <a:spcBef>
                <a:spcPts val="0"/>
              </a:spcBef>
            </a:pPr>
            <a:r>
              <a:rPr sz="1700" b="1">
                <a:solidFill>
                  <a:srgbClr val="2563EB"/>
                </a:solidFill>
                <a:latin typeface="Calibri"/>
              </a:rPr>
              <a:t>EXERCISE 3 · 30 min</a:t>
            </a:r>
          </a:p>
        </p:txBody>
      </p:sp>
      <p:sp>
        <p:nvSpPr>
          <p:cNvPr id="5" name="TextBox 4"/>
          <p:cNvSpPr txBox="1"/>
          <p:nvPr/>
        </p:nvSpPr>
        <p:spPr>
          <a:xfrm>
            <a:off x="777240" y="2834640"/>
            <a:ext cx="10637215" cy="1188720"/>
          </a:xfrm>
          <a:prstGeom prst="rect">
            <a:avLst/>
          </a:prstGeom>
          <a:noFill/>
        </p:spPr>
        <p:txBody>
          <a:bodyPr wrap="square" lIns="0" rIns="0" tIns="0" bIns="0">
            <a:spAutoFit/>
          </a:bodyPr>
          <a:lstStyle/>
          <a:p>
            <a:pPr algn="l">
              <a:lnSpc>
                <a:spcPct val="100000"/>
              </a:lnSpc>
              <a:spcBef>
                <a:spcPts val="0"/>
              </a:spcBef>
            </a:pPr>
            <a:r>
              <a:rPr sz="4000" b="1">
                <a:solidFill>
                  <a:srgbClr val="1A1F2B"/>
                </a:solidFill>
                <a:latin typeface="Calibri"/>
              </a:rPr>
              <a:t>Implementing a feature ad-hoc with instructions</a:t>
            </a:r>
          </a:p>
        </p:txBody>
      </p:sp>
      <p:sp>
        <p:nvSpPr>
          <p:cNvPr id="6" name="TextBox 5"/>
          <p:cNvSpPr txBox="1"/>
          <p:nvPr/>
        </p:nvSpPr>
        <p:spPr>
          <a:xfrm>
            <a:off x="777240" y="4023360"/>
            <a:ext cx="10637215" cy="914400"/>
          </a:xfrm>
          <a:prstGeom prst="rect">
            <a:avLst/>
          </a:prstGeom>
          <a:noFill/>
        </p:spPr>
        <p:txBody>
          <a:bodyPr wrap="square" lIns="0" rIns="0" tIns="0" bIns="0">
            <a:spAutoFit/>
          </a:bodyPr>
          <a:lstStyle/>
          <a:p>
            <a:pPr algn="l">
              <a:lnSpc>
                <a:spcPct val="100000"/>
              </a:lnSpc>
              <a:spcBef>
                <a:spcPts val="0"/>
              </a:spcBef>
            </a:pPr>
            <a:r>
              <a:rPr sz="1900" b="0">
                <a:solidFill>
                  <a:srgbClr val="5B6474"/>
                </a:solidFill>
                <a:latin typeface="Calibri"/>
              </a:rPr>
              <a:t>Branch: exercise-3 — same ticket, same models, instructions now in place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3 · SETUP</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Same ticket. What changed is what the repo tells Copilot first.</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.github/copilot-instructions.md</a:t>
            </a:r>
          </a:p>
          <a:p>
            <a:pPr algn="l">
              <a:lnSpc>
                <a:spcPct val="108000"/>
              </a:lnSpc>
              <a:spcBef>
                <a:spcPts val="300"/>
              </a:spcBef>
            </a:pPr>
            <a:r>
              <a:rPr sz="1600" b="0">
                <a:solidFill>
                  <a:srgbClr val="5B6474"/>
                </a:solidFill>
                <a:latin typeface="Calibri"/>
              </a:rPr>
              <a:t>     A behavioral rule plus a pointer to the overview</a:t>
            </a:r>
          </a:p>
          <a:p>
            <a:pPr algn="l">
              <a:lnSpc>
                <a:spcPct val="108000"/>
              </a:lnSpc>
              <a:spcBef>
                <a:spcPts val="1700"/>
              </a:spcBef>
            </a:pPr>
            <a:r>
              <a:rPr sz="2000" b="1">
                <a:solidFill>
                  <a:srgbClr val="1A1F2B"/>
                </a:solidFill>
                <a:latin typeface="Calibri"/>
              </a:rPr>
              <a:t>•  PROJECT_OVERVIEW.md</a:t>
            </a:r>
          </a:p>
          <a:p>
            <a:pPr algn="l">
              <a:lnSpc>
                <a:spcPct val="108000"/>
              </a:lnSpc>
              <a:spcBef>
                <a:spcPts val="300"/>
              </a:spcBef>
            </a:pPr>
            <a:r>
              <a:rPr sz="1600" b="0">
                <a:solidFill>
                  <a:srgbClr val="5B6474"/>
                </a:solidFill>
                <a:latin typeface="Calibri"/>
              </a:rPr>
              <a:t>     The reviewed architecture description from Exercise 1</a:t>
            </a:r>
          </a:p>
          <a:p>
            <a:pPr algn="l">
              <a:lnSpc>
                <a:spcPct val="108000"/>
              </a:lnSpc>
              <a:spcBef>
                <a:spcPts val="1700"/>
              </a:spcBef>
            </a:pPr>
            <a:r>
              <a:rPr sz="2000" b="1">
                <a:solidFill>
                  <a:srgbClr val="1A1F2B"/>
                </a:solidFill>
                <a:latin typeface="Calibri"/>
              </a:rPr>
              <a:t>•  scripts/fitness.sh</a:t>
            </a:r>
          </a:p>
          <a:p>
            <a:pPr algn="l">
              <a:lnSpc>
                <a:spcPct val="108000"/>
              </a:lnSpc>
              <a:spcBef>
                <a:spcPts val="300"/>
              </a:spcBef>
            </a:pPr>
            <a:r>
              <a:rPr sz="1600" b="0">
                <a:solidFill>
                  <a:srgbClr val="5B6474"/>
                </a:solidFill>
                <a:latin typeface="Calibri"/>
              </a:rPr>
              <a:t>     Tests + format check + compile — first appears on this branch</a:t>
            </a:r>
          </a:p>
          <a:p>
            <a:pPr algn="l">
              <a:lnSpc>
                <a:spcPct val="108000"/>
              </a:lnSpc>
              <a:spcBef>
                <a:spcPts val="1700"/>
              </a:spcBef>
            </a:pPr>
            <a:r>
              <a:rPr sz="2000" b="1">
                <a:solidFill>
                  <a:srgbClr val="1A1F2B"/>
                </a:solidFill>
                <a:latin typeface="Calibri"/>
              </a:rPr>
              <a:t>•  docs/coding-guidelines.md</a:t>
            </a:r>
          </a:p>
          <a:p>
            <a:pPr algn="l">
              <a:lnSpc>
                <a:spcPct val="108000"/>
              </a:lnSpc>
              <a:spcBef>
                <a:spcPts val="300"/>
              </a:spcBef>
            </a:pPr>
            <a:r>
              <a:rPr sz="1600" b="0">
                <a:solidFill>
                  <a:srgbClr val="5B6474"/>
                </a:solidFill>
                <a:latin typeface="Calibri"/>
              </a:rPr>
              <a:t>     Not here yet. They write it in step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77440"/>
            <a:ext cx="10637215" cy="2194560"/>
          </a:xfrm>
          <a:prstGeom prst="rect">
            <a:avLst/>
          </a:prstGeom>
          <a:noFill/>
        </p:spPr>
        <p:txBody>
          <a:bodyPr wrap="square" lIns="0" rIns="0" tIns="0" bIns="0">
            <a:spAutoFit/>
          </a:bodyPr>
          <a:lstStyle/>
          <a:p>
            <a:pPr algn="l">
              <a:lnSpc>
                <a:spcPct val="118000"/>
              </a:lnSpc>
              <a:spcBef>
                <a:spcPts val="0"/>
              </a:spcBef>
            </a:pPr>
            <a:r>
              <a:rPr sz="3400" b="1">
                <a:solidFill>
                  <a:srgbClr val="FFFFFF"/>
                </a:solidFill>
                <a:latin typeface="Calibri"/>
              </a:rPr>
              <a:t>Model choice moves quality more than the instructions file does
— for a ticket this vague.</a:t>
            </a:r>
          </a:p>
        </p:txBody>
      </p:sp>
      <p:sp>
        <p:nvSpPr>
          <p:cNvPr id="4" name="TextBox 3"/>
          <p:cNvSpPr txBox="1"/>
          <p:nvPr/>
        </p:nvSpPr>
        <p:spPr>
          <a:xfrm>
            <a:off x="777240" y="4846320"/>
            <a:ext cx="10637215" cy="548640"/>
          </a:xfrm>
          <a:prstGeom prst="rect">
            <a:avLst/>
          </a:prstGeom>
          <a:noFill/>
        </p:spPr>
        <p:txBody>
          <a:bodyPr wrap="square" lIns="0" rIns="0" tIns="0" bIns="0">
            <a:spAutoFit/>
          </a:bodyPr>
          <a:lstStyle/>
          <a:p>
            <a:pPr algn="l">
              <a:lnSpc>
                <a:spcPct val="100000"/>
              </a:lnSpc>
              <a:spcBef>
                <a:spcPts val="0"/>
              </a:spcBef>
            </a:pPr>
            <a:r>
              <a:rPr sz="1700" b="0">
                <a:solidFill>
                  <a:srgbClr val="9FADC0"/>
                </a:solidFill>
                <a:latin typeface="Calibri"/>
              </a:rPr>
              <a:t>Let that land honestly rather than steering to "instructions are great".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3 · STEP 5</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Fitness functions — a guideline nobody can check is a wish</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./scripts/fitness.sh</a:t>
            </a:r>
          </a:p>
          <a:p>
            <a:pPr algn="l">
              <a:lnSpc>
                <a:spcPct val="108000"/>
              </a:lnSpc>
              <a:spcBef>
                <a:spcPts val="300"/>
              </a:spcBef>
            </a:pPr>
            <a:r>
              <a:rPr sz="1600" b="0">
                <a:solidFill>
                  <a:srgbClr val="5B6474"/>
                </a:solidFill>
                <a:latin typeface="Calibri"/>
              </a:rPr>
              <a:t>     Runs the test suite, the format check, and a compile</a:t>
            </a:r>
          </a:p>
          <a:p>
            <a:pPr algn="l">
              <a:lnSpc>
                <a:spcPct val="108000"/>
              </a:lnSpc>
              <a:spcBef>
                <a:spcPts val="1700"/>
              </a:spcBef>
            </a:pPr>
            <a:r>
              <a:rPr sz="2000" b="1">
                <a:solidFill>
                  <a:srgbClr val="1A1F2B"/>
                </a:solidFill>
                <a:latin typeface="Calibri"/>
              </a:rPr>
              <a:t>•  The discussion is what it doesn't gate</a:t>
            </a:r>
          </a:p>
          <a:p>
            <a:pPr algn="l">
              <a:lnSpc>
                <a:spcPct val="108000"/>
              </a:lnSpc>
              <a:spcBef>
                <a:spcPts val="300"/>
              </a:spcBef>
            </a:pPr>
            <a:r>
              <a:rPr sz="1600" b="0">
                <a:solidFill>
                  <a:srgbClr val="5B6474"/>
                </a:solidFill>
                <a:latin typeface="Calibri"/>
              </a:rPr>
              <a:t>     Read your own guidelines against it and find the gaps</a:t>
            </a:r>
          </a:p>
          <a:p>
            <a:pPr algn="l">
              <a:lnSpc>
                <a:spcPct val="108000"/>
              </a:lnSpc>
              <a:spcBef>
                <a:spcPts val="1700"/>
              </a:spcBef>
            </a:pPr>
            <a:r>
              <a:rPr sz="2000" b="1">
                <a:solidFill>
                  <a:srgbClr val="1A1F2B"/>
                </a:solidFill>
                <a:latin typeface="Calibri"/>
              </a:rPr>
              <a:t>•  Scoping by userId</a:t>
            </a:r>
          </a:p>
          <a:p>
            <a:pPr algn="l">
              <a:lnSpc>
                <a:spcPct val="108000"/>
              </a:lnSpc>
              <a:spcBef>
                <a:spcPts val="300"/>
              </a:spcBef>
            </a:pPr>
            <a:r>
              <a:rPr sz="1600" b="0">
                <a:solidFill>
                  <a:srgbClr val="5B6474"/>
                </a:solidFill>
                <a:latin typeface="Calibri"/>
              </a:rPr>
              <a:t>     → an ArchUnit rule, or a test that logs in as Bob and asserts nothing of Alice's</a:t>
            </a:r>
          </a:p>
          <a:p>
            <a:pPr algn="l">
              <a:lnSpc>
                <a:spcPct val="108000"/>
              </a:lnSpc>
              <a:spcBef>
                <a:spcPts val="1700"/>
              </a:spcBef>
            </a:pPr>
            <a:r>
              <a:rPr sz="2000" b="1">
                <a:solidFill>
                  <a:srgbClr val="1A1F2B"/>
                </a:solidFill>
                <a:latin typeface="Calibri"/>
              </a:rPr>
              <a:t>•  Changelog updated</a:t>
            </a:r>
          </a:p>
          <a:p>
            <a:pPr algn="l">
              <a:lnSpc>
                <a:spcPct val="108000"/>
              </a:lnSpc>
              <a:spcBef>
                <a:spcPts val="300"/>
              </a:spcBef>
            </a:pPr>
            <a:r>
              <a:rPr sz="1600" b="0">
                <a:solidFill>
                  <a:srgbClr val="5B6474"/>
                </a:solidFill>
                <a:latin typeface="Calibri"/>
              </a:rPr>
              <a:t>     → a CI check that the diff touches CHANGELOG.md</a:t>
            </a:r>
          </a:p>
          <a:p>
            <a:pPr algn="l">
              <a:lnSpc>
                <a:spcPct val="108000"/>
              </a:lnSpc>
              <a:spcBef>
                <a:spcPts val="1700"/>
              </a:spcBef>
            </a:pPr>
            <a:r>
              <a:rPr sz="2000" b="1">
                <a:solidFill>
                  <a:srgbClr val="1A1F2B"/>
                </a:solidFill>
                <a:latin typeface="Calibri"/>
              </a:rPr>
              <a:t>•  No trivial comments</a:t>
            </a:r>
          </a:p>
          <a:p>
            <a:pPr algn="l">
              <a:lnSpc>
                <a:spcPct val="108000"/>
              </a:lnSpc>
              <a:spcBef>
                <a:spcPts val="300"/>
              </a:spcBef>
            </a:pPr>
            <a:r>
              <a:rPr sz="1600" b="0">
                <a:solidFill>
                  <a:srgbClr val="5B6474"/>
                </a:solidFill>
                <a:latin typeface="Calibri"/>
              </a:rPr>
              <a:t>     → not mechanically checkable. That is the honest answer.</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The rules with no automated check behind them are the ones that keep getting violated.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3 · DEBRIEF</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Debrief 3</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  Rank all the runs across Exercises 2 and 3. What does the ordering say?</a:t>
            </a:r>
          </a:p>
          <a:p>
            <a:pPr algn="l">
              <a:lnSpc>
                <a:spcPct val="108000"/>
              </a:lnSpc>
              <a:spcBef>
                <a:spcPts val="1500"/>
              </a:spcBef>
            </a:pPr>
            <a:r>
              <a:rPr sz="2000" b="0">
                <a:solidFill>
                  <a:srgbClr val="1A1F2B"/>
                </a:solidFill>
                <a:latin typeface="Calibri"/>
              </a:rPr>
              <a:t>•  Which guideline did the model violate anyway? What would catch it automatically?</a:t>
            </a:r>
          </a:p>
          <a:p>
            <a:pPr algn="l">
              <a:lnSpc>
                <a:spcPct val="108000"/>
              </a:lnSpc>
              <a:spcBef>
                <a:spcPts val="1500"/>
              </a:spcBef>
            </a:pPr>
            <a:r>
              <a:rPr sz="2000" b="0">
                <a:solidFill>
                  <a:srgbClr val="1A1F2B"/>
                </a:solidFill>
                <a:latin typeface="Calibri"/>
              </a:rPr>
              <a:t>•  Auto-approval made it faster. Did it make it better?</a:t>
            </a:r>
          </a:p>
          <a:p>
            <a:pPr algn="l">
              <a:lnSpc>
                <a:spcPct val="108000"/>
              </a:lnSpc>
              <a:spcBef>
                <a:spcPts val="1500"/>
              </a:spcBef>
            </a:pPr>
            <a:r>
              <a:rPr sz="2000" b="0">
                <a:solidFill>
                  <a:srgbClr val="1A1F2B"/>
                </a:solidFill>
                <a:latin typeface="Calibri"/>
              </a:rPr>
              <a:t>•  Your guidelines load on every request. What would you cut from a 400-line file first?</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Takeaway: instructions enforce your review comments before the code is written.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77440"/>
            <a:ext cx="10637215" cy="2194560"/>
          </a:xfrm>
          <a:prstGeom prst="rect">
            <a:avLst/>
          </a:prstGeom>
          <a:noFill/>
        </p:spPr>
        <p:txBody>
          <a:bodyPr wrap="square" lIns="0" rIns="0" tIns="0" bIns="0">
            <a:spAutoFit/>
          </a:bodyPr>
          <a:lstStyle/>
          <a:p>
            <a:pPr algn="l">
              <a:lnSpc>
                <a:spcPct val="118000"/>
              </a:lnSpc>
              <a:spcBef>
                <a:spcPts val="0"/>
              </a:spcBef>
            </a:pPr>
            <a:r>
              <a:rPr sz="3400" b="1">
                <a:solidFill>
                  <a:srgbClr val="FFFFFF"/>
                </a:solidFill>
                <a:latin typeface="Calibri"/>
              </a:rPr>
              <a:t>Six runs in, nobody has yet decided what a reminder is.</a:t>
            </a:r>
          </a:p>
        </p:txBody>
      </p:sp>
      <p:sp>
        <p:nvSpPr>
          <p:cNvPr id="4" name="TextBox 3"/>
          <p:cNvSpPr txBox="1"/>
          <p:nvPr/>
        </p:nvSpPr>
        <p:spPr>
          <a:xfrm>
            <a:off x="777240" y="4846320"/>
            <a:ext cx="10637215" cy="548640"/>
          </a:xfrm>
          <a:prstGeom prst="rect">
            <a:avLst/>
          </a:prstGeom>
          <a:noFill/>
        </p:spPr>
        <p:txBody>
          <a:bodyPr wrap="square" lIns="0" rIns="0" tIns="0" bIns="0">
            <a:spAutoFit/>
          </a:bodyPr>
          <a:lstStyle/>
          <a:p>
            <a:pPr algn="l">
              <a:lnSpc>
                <a:spcPct val="100000"/>
              </a:lnSpc>
              <a:spcBef>
                <a:spcPts val="0"/>
              </a:spcBef>
            </a:pPr>
            <a:r>
              <a:rPr sz="1700" b="0">
                <a:solidFill>
                  <a:srgbClr val="9FADC0"/>
                </a:solidFill>
                <a:latin typeface="Calibri"/>
              </a:rPr>
              <a:t>Which is Exercise 4. — This pivot is the whole 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86000"/>
            <a:ext cx="10637215" cy="640080"/>
          </a:xfrm>
          <a:prstGeom prst="rect">
            <a:avLst/>
          </a:prstGeom>
          <a:noFill/>
        </p:spPr>
        <p:txBody>
          <a:bodyPr wrap="square" lIns="0" rIns="0" tIns="0" bIns="0">
            <a:spAutoFit/>
          </a:bodyPr>
          <a:lstStyle/>
          <a:p>
            <a:pPr algn="l">
              <a:lnSpc>
                <a:spcPct val="100000"/>
              </a:lnSpc>
              <a:spcBef>
                <a:spcPts val="0"/>
              </a:spcBef>
            </a:pPr>
            <a:r>
              <a:rPr sz="1700" b="1">
                <a:solidFill>
                  <a:srgbClr val="2563EB"/>
                </a:solidFill>
                <a:latin typeface="Calibri"/>
              </a:rPr>
              <a:t>EXERCISE 4 · 35 min</a:t>
            </a:r>
          </a:p>
        </p:txBody>
      </p:sp>
      <p:sp>
        <p:nvSpPr>
          <p:cNvPr id="5" name="TextBox 4"/>
          <p:cNvSpPr txBox="1"/>
          <p:nvPr/>
        </p:nvSpPr>
        <p:spPr>
          <a:xfrm>
            <a:off x="777240" y="2834640"/>
            <a:ext cx="10637215" cy="1188720"/>
          </a:xfrm>
          <a:prstGeom prst="rect">
            <a:avLst/>
          </a:prstGeom>
          <a:noFill/>
        </p:spPr>
        <p:txBody>
          <a:bodyPr wrap="square" lIns="0" rIns="0" tIns="0" bIns="0">
            <a:spAutoFit/>
          </a:bodyPr>
          <a:lstStyle/>
          <a:p>
            <a:pPr algn="l">
              <a:lnSpc>
                <a:spcPct val="100000"/>
              </a:lnSpc>
              <a:spcBef>
                <a:spcPts val="0"/>
              </a:spcBef>
            </a:pPr>
            <a:r>
              <a:rPr sz="4000" b="1">
                <a:solidFill>
                  <a:srgbClr val="1A1F2B"/>
                </a:solidFill>
                <a:latin typeface="Calibri"/>
              </a:rPr>
              <a:t>Refine → plan → implement</a:t>
            </a:r>
          </a:p>
        </p:txBody>
      </p:sp>
      <p:sp>
        <p:nvSpPr>
          <p:cNvPr id="6" name="TextBox 5"/>
          <p:cNvSpPr txBox="1"/>
          <p:nvPr/>
        </p:nvSpPr>
        <p:spPr>
          <a:xfrm>
            <a:off x="777240" y="4023360"/>
            <a:ext cx="10637215" cy="914400"/>
          </a:xfrm>
          <a:prstGeom prst="rect">
            <a:avLst/>
          </a:prstGeom>
          <a:noFill/>
        </p:spPr>
        <p:txBody>
          <a:bodyPr wrap="square" lIns="0" rIns="0" tIns="0" bIns="0">
            <a:spAutoFit/>
          </a:bodyPr>
          <a:lstStyle/>
          <a:p>
            <a:pPr algn="l">
              <a:lnSpc>
                <a:spcPct val="100000"/>
              </a:lnSpc>
              <a:spcBef>
                <a:spcPts val="0"/>
              </a:spcBef>
            </a:pPr>
            <a:r>
              <a:rPr sz="1900" b="0">
                <a:solidFill>
                  <a:srgbClr val="5B6474"/>
                </a:solidFill>
                <a:latin typeface="Calibri"/>
              </a:rPr>
              <a:t>Branch: exercise-4 — third time building the same feature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4</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Three prompts, in order, each reviewed before the next runs</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77240" y="2084831"/>
          <a:ext cx="10637214" cy="1536192"/>
        </p:xfrm>
        <a:graphic>
          <a:graphicData uri="http://schemas.openxmlformats.org/drawingml/2006/table">
            <a:tbl>
              <a:tblPr firstRow="1" bandRow="1">
                <a:tableStyleId>{5C22544A-7EE6-4342-B048-85BDC9FD1C3A}</a:tableStyleId>
              </a:tblPr>
              <a:tblGrid>
                <a:gridCol w="1914698"/>
                <a:gridCol w="4467630"/>
                <a:gridCol w="4254886"/>
              </a:tblGrid>
              <a:tr h="384048">
                <a:tc>
                  <a:txBody>
                    <a:bodyPr wrap="square"/>
                    <a:lstStyle/>
                    <a:p>
                      <a:r>
                        <a:rPr sz="1400" b="1">
                          <a:solidFill>
                            <a:srgbClr val="FFFFFF"/>
                          </a:solidFill>
                          <a:latin typeface="Calibri"/>
                        </a:rPr>
                        <a:t>Stage</a:t>
                      </a:r>
                    </a:p>
                  </a:txBody>
                  <a:tcPr marL="109728" marR="109728">
                    <a:solidFill>
                      <a:srgbClr val="1A1F2B"/>
                    </a:solidFill>
                  </a:tcPr>
                </a:tc>
                <a:tc>
                  <a:txBody>
                    <a:bodyPr wrap="square"/>
                    <a:lstStyle/>
                    <a:p>
                      <a:r>
                        <a:rPr sz="1400" b="1">
                          <a:solidFill>
                            <a:srgbClr val="FFFFFF"/>
                          </a:solidFill>
                          <a:latin typeface="Calibri"/>
                        </a:rPr>
                        <a:t>Question it answers</a:t>
                      </a:r>
                    </a:p>
                  </a:txBody>
                  <a:tcPr marL="109728" marR="109728">
                    <a:solidFill>
                      <a:srgbClr val="1A1F2B"/>
                    </a:solidFill>
                  </a:tcPr>
                </a:tc>
                <a:tc>
                  <a:txBody>
                    <a:bodyPr wrap="square"/>
                    <a:lstStyle/>
                    <a:p>
                      <a:r>
                        <a:rPr sz="1400" b="1">
                          <a:solidFill>
                            <a:srgbClr val="FFFFFF"/>
                          </a:solidFill>
                          <a:latin typeface="Calibri"/>
                        </a:rPr>
                        <a:t>Output</a:t>
                      </a:r>
                    </a:p>
                  </a:txBody>
                  <a:tcPr marL="109728" marR="109728">
                    <a:solidFill>
                      <a:srgbClr val="1A1F2B"/>
                    </a:solidFill>
                  </a:tcPr>
                </a:tc>
              </a:tr>
              <a:tr h="384048">
                <a:tc>
                  <a:txBody>
                    <a:bodyPr wrap="square"/>
                    <a:lstStyle/>
                    <a:p>
                      <a:r>
                        <a:rPr sz="1300" b="1">
                          <a:solidFill>
                            <a:srgbClr val="1A1F2B"/>
                          </a:solidFill>
                          <a:latin typeface="Calibri"/>
                        </a:rPr>
                        <a:t>Refine</a:t>
                      </a:r>
                    </a:p>
                  </a:txBody>
                  <a:tcPr marL="109728" marR="109728">
                    <a:solidFill>
                      <a:srgbClr val="FFFFFF"/>
                    </a:solidFill>
                  </a:tcPr>
                </a:tc>
                <a:tc>
                  <a:txBody>
                    <a:bodyPr wrap="square"/>
                    <a:lstStyle/>
                    <a:p>
                      <a:r>
                        <a:rPr sz="1300" b="0">
                          <a:solidFill>
                            <a:srgbClr val="1A1F2B"/>
                          </a:solidFill>
                          <a:latin typeface="Calibri"/>
                        </a:rPr>
                        <a:t>What are we actually building?</a:t>
                      </a:r>
                    </a:p>
                  </a:txBody>
                  <a:tcPr marL="109728" marR="109728">
                    <a:solidFill>
                      <a:srgbClr val="FFFFFF"/>
                    </a:solidFill>
                  </a:tcPr>
                </a:tc>
                <a:tc>
                  <a:txBody>
                    <a:bodyPr wrap="square"/>
                    <a:lstStyle/>
                    <a:p>
                      <a:r>
                        <a:rPr sz="1300" b="0">
                          <a:solidFill>
                            <a:srgbClr val="1A1F2B"/>
                          </a:solidFill>
                          <a:latin typeface="Calibri"/>
                        </a:rPr>
                        <a:t>A spec — docs/tickets/reminders-spec.md</a:t>
                      </a:r>
                    </a:p>
                  </a:txBody>
                  <a:tcPr marL="109728" marR="109728">
                    <a:solidFill>
                      <a:srgbClr val="FFFFFF"/>
                    </a:solidFill>
                  </a:tcPr>
                </a:tc>
              </a:tr>
              <a:tr h="384048">
                <a:tc>
                  <a:txBody>
                    <a:bodyPr wrap="square"/>
                    <a:lstStyle/>
                    <a:p>
                      <a:r>
                        <a:rPr sz="1300" b="1">
                          <a:solidFill>
                            <a:srgbClr val="1A1F2B"/>
                          </a:solidFill>
                          <a:latin typeface="Calibri"/>
                        </a:rPr>
                        <a:t>Plan</a:t>
                      </a:r>
                    </a:p>
                  </a:txBody>
                  <a:tcPr marL="109728" marR="109728">
                    <a:solidFill>
                      <a:srgbClr val="F4F6F9"/>
                    </a:solidFill>
                  </a:tcPr>
                </a:tc>
                <a:tc>
                  <a:txBody>
                    <a:bodyPr wrap="square"/>
                    <a:lstStyle/>
                    <a:p>
                      <a:r>
                        <a:rPr sz="1300" b="0">
                          <a:solidFill>
                            <a:srgbClr val="1A1F2B"/>
                          </a:solidFill>
                          <a:latin typeface="Calibri"/>
                        </a:rPr>
                        <a:t>How, in what order, verified how?</a:t>
                      </a:r>
                    </a:p>
                  </a:txBody>
                  <a:tcPr marL="109728" marR="109728">
                    <a:solidFill>
                      <a:srgbClr val="F4F6F9"/>
                    </a:solidFill>
                  </a:tcPr>
                </a:tc>
                <a:tc>
                  <a:txBody>
                    <a:bodyPr wrap="square"/>
                    <a:lstStyle/>
                    <a:p>
                      <a:r>
                        <a:rPr sz="1300" b="0">
                          <a:solidFill>
                            <a:srgbClr val="1A1F2B"/>
                          </a:solidFill>
                          <a:latin typeface="Calibri"/>
                        </a:rPr>
                        <a:t>Numbered steps — reminders-plan.md</a:t>
                      </a:r>
                    </a:p>
                  </a:txBody>
                  <a:tcPr marL="109728" marR="109728">
                    <a:solidFill>
                      <a:srgbClr val="F4F6F9"/>
                    </a:solidFill>
                  </a:tcPr>
                </a:tc>
              </a:tr>
              <a:tr h="384048">
                <a:tc>
                  <a:txBody>
                    <a:bodyPr wrap="square"/>
                    <a:lstStyle/>
                    <a:p>
                      <a:r>
                        <a:rPr sz="1300" b="1">
                          <a:solidFill>
                            <a:srgbClr val="1A1F2B"/>
                          </a:solidFill>
                          <a:latin typeface="Calibri"/>
                        </a:rPr>
                        <a:t>Implement</a:t>
                      </a:r>
                    </a:p>
                  </a:txBody>
                  <a:tcPr marL="109728" marR="109728">
                    <a:solidFill>
                      <a:srgbClr val="FFFFFF"/>
                    </a:solidFill>
                  </a:tcPr>
                </a:tc>
                <a:tc>
                  <a:txBody>
                    <a:bodyPr wrap="square"/>
                    <a:lstStyle/>
                    <a:p>
                      <a:r>
                        <a:rPr sz="1300" b="0">
                          <a:solidFill>
                            <a:srgbClr val="1A1F2B"/>
                          </a:solidFill>
                          <a:latin typeface="Calibri"/>
                        </a:rPr>
                        <a:t>Do it.</a:t>
                      </a:r>
                    </a:p>
                  </a:txBody>
                  <a:tcPr marL="109728" marR="109728">
                    <a:solidFill>
                      <a:srgbClr val="FFFFFF"/>
                    </a:solidFill>
                  </a:tcPr>
                </a:tc>
                <a:tc>
                  <a:txBody>
                    <a:bodyPr wrap="square"/>
                    <a:lstStyle/>
                    <a:p>
                      <a:r>
                        <a:rPr sz="1300" b="0">
                          <a:solidFill>
                            <a:srgbClr val="1A1F2B"/>
                          </a:solidFill>
                          <a:latin typeface="Calibri"/>
                        </a:rPr>
                        <a:t>Code + tests, fitness.sh green</a:t>
                      </a:r>
                    </a:p>
                  </a:txBody>
                  <a:tcPr marL="109728" marR="109728">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4 · ANSWER KEY</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What good looks like at each stage</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A good spec settles</a:t>
            </a:r>
          </a:p>
          <a:p>
            <a:pPr algn="l">
              <a:lnSpc>
                <a:spcPct val="108000"/>
              </a:lnSpc>
              <a:spcBef>
                <a:spcPts val="300"/>
              </a:spcBef>
            </a:pPr>
            <a:r>
              <a:rPr sz="1600" b="0">
                <a:solidFill>
                  <a:srgbClr val="5B6474"/>
                </a:solidFill>
                <a:latin typeface="Calibri"/>
              </a:rPr>
              <a:t>     In-app only. Fixed lead time via properties. No dueDate → skipped. Done → skipped. One-shot. Owner-only.</a:t>
            </a:r>
          </a:p>
          <a:p>
            <a:pPr algn="l">
              <a:lnSpc>
                <a:spcPct val="108000"/>
              </a:lnSpc>
              <a:spcBef>
                <a:spcPts val="1700"/>
              </a:spcBef>
            </a:pPr>
            <a:r>
              <a:rPr sz="2000" b="1">
                <a:solidFill>
                  <a:srgbClr val="1A1F2B"/>
                </a:solidFill>
                <a:latin typeface="Calibri"/>
              </a:rPr>
              <a:t>•  A good plan</a:t>
            </a:r>
          </a:p>
          <a:p>
            <a:pPr algn="l">
              <a:lnSpc>
                <a:spcPct val="108000"/>
              </a:lnSpc>
              <a:spcBef>
                <a:spcPts val="300"/>
              </a:spcBef>
            </a:pPr>
            <a:r>
              <a:rPr sz="1600" b="0">
                <a:solidFill>
                  <a:srgbClr val="5B6474"/>
                </a:solidFill>
                <a:latin typeface="Calibri"/>
              </a:rPr>
              <a:t>     First step is a test. No step you cannot verify. "3. Implement the reminder service" is the tell.</a:t>
            </a:r>
          </a:p>
          <a:p>
            <a:pPr algn="l">
              <a:lnSpc>
                <a:spcPct val="108000"/>
              </a:lnSpc>
              <a:spcBef>
                <a:spcPts val="1700"/>
              </a:spcBef>
            </a:pPr>
            <a:r>
              <a:rPr sz="2000" b="1">
                <a:solidFill>
                  <a:srgbClr val="1A1F2B"/>
                </a:solidFill>
                <a:latin typeface="Calibri"/>
              </a:rPr>
              <a:t>•  A good implement run</a:t>
            </a:r>
          </a:p>
          <a:p>
            <a:pPr algn="l">
              <a:lnSpc>
                <a:spcPct val="108000"/>
              </a:lnSpc>
              <a:spcBef>
                <a:spcPts val="300"/>
              </a:spcBef>
            </a:pPr>
            <a:r>
              <a:rPr sz="1600" b="0">
                <a:solidFill>
                  <a:srgbClr val="5B6474"/>
                </a:solidFill>
                <a:latin typeface="Calibri"/>
              </a:rPr>
              <a:t>     States which step it is on. Runs fitness.sh rather than claiming it. Stops at the plan's boundary.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4 · STEP 4</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The comparison that makes the point</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git diff exercise-2 -- src/     — vibe coded, no instructions</a:t>
            </a:r>
          </a:p>
          <a:p>
            <a:pPr algn="l">
              <a:lnSpc>
                <a:spcPct val="108000"/>
              </a:lnSpc>
              <a:spcBef>
                <a:spcPts val="1500"/>
              </a:spcBef>
            </a:pPr>
            <a:r>
              <a:rPr sz="2000" b="0">
                <a:solidFill>
                  <a:srgbClr val="1A1F2B"/>
                </a:solidFill>
                <a:latin typeface="Calibri"/>
              </a:rPr>
              <a:t>•  git diff exercise-3 -- src/     — instructions and guidelines, still a one-line prompt</a:t>
            </a:r>
          </a:p>
          <a:p>
            <a:pPr algn="l">
              <a:lnSpc>
                <a:spcPct val="108000"/>
              </a:lnSpc>
              <a:spcBef>
                <a:spcPts val="1500"/>
              </a:spcBef>
            </a:pPr>
            <a:r>
              <a:rPr sz="2000" b="0">
                <a:solidFill>
                  <a:srgbClr val="1A1F2B"/>
                </a:solidFill>
                <a:latin typeface="Calibri"/>
              </a:rPr>
              <a:t>•  Score all three on the six questions from this morning</a:t>
            </a:r>
          </a:p>
          <a:p>
            <a:pPr algn="l">
              <a:lnSpc>
                <a:spcPct val="108000"/>
              </a:lnSpc>
              <a:spcBef>
                <a:spcPts val="1500"/>
              </a:spcBef>
            </a:pPr>
            <a:r>
              <a:rPr sz="2000" b="0">
                <a:solidFill>
                  <a:srgbClr val="1A1F2B"/>
                </a:solidFill>
                <a:latin typeface="Calibri"/>
              </a:rPr>
              <a:t>•  Exercise 2's code probably answers all six too</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The difference isn't how many got answered. It's that yours are written down and reviewed.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4 · STEP 5</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When is this cycle NOT worth it?</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rate-limiting.md</a:t>
            </a:r>
          </a:p>
          <a:p>
            <a:pPr algn="l">
              <a:lnSpc>
                <a:spcPct val="108000"/>
              </a:lnSpc>
              <a:spcBef>
                <a:spcPts val="300"/>
              </a:spcBef>
            </a:pPr>
            <a:r>
              <a:rPr sz="1600" b="0">
                <a:solidFill>
                  <a:srgbClr val="5B6474"/>
                </a:solidFill>
                <a:latin typeface="Calibri"/>
              </a:rPr>
              <a:t>     Already half-refined — Refine has less to find</a:t>
            </a:r>
          </a:p>
          <a:p>
            <a:pPr algn="l">
              <a:lnSpc>
                <a:spcPct val="108000"/>
              </a:lnSpc>
              <a:spcBef>
                <a:spcPts val="1700"/>
              </a:spcBef>
            </a:pPr>
            <a:r>
              <a:rPr sz="2000" b="1">
                <a:solidFill>
                  <a:srgbClr val="1A1F2B"/>
                </a:solidFill>
                <a:latin typeface="Calibri"/>
              </a:rPr>
              <a:t>•  task-listing-performance.md</a:t>
            </a:r>
          </a:p>
          <a:p>
            <a:pPr algn="l">
              <a:lnSpc>
                <a:spcPct val="108000"/>
              </a:lnSpc>
              <a:spcBef>
                <a:spcPts val="300"/>
              </a:spcBef>
            </a:pPr>
            <a:r>
              <a:rPr sz="1600" b="0">
                <a:solidFill>
                  <a:srgbClr val="5B6474"/>
                </a:solidFill>
                <a:latin typeface="Calibri"/>
              </a:rPr>
              <a:t>     Fully scoped, no ambiguity. You'd go straight to Plan.</a:t>
            </a:r>
          </a:p>
          <a:p>
            <a:pPr algn="l">
              <a:lnSpc>
                <a:spcPct val="108000"/>
              </a:lnSpc>
              <a:spcBef>
                <a:spcPts val="1700"/>
              </a:spcBef>
            </a:pPr>
            <a:r>
              <a:rPr sz="2000" b="1">
                <a:solidFill>
                  <a:srgbClr val="1A1F2B"/>
                </a:solidFill>
                <a:latin typeface="Calibri"/>
              </a:rPr>
              <a:t>•  The reminders ticket</a:t>
            </a:r>
          </a:p>
          <a:p>
            <a:pPr algn="l">
              <a:lnSpc>
                <a:spcPct val="108000"/>
              </a:lnSpc>
              <a:spcBef>
                <a:spcPts val="300"/>
              </a:spcBef>
            </a:pPr>
            <a:r>
              <a:rPr sz="1600" b="0">
                <a:solidFill>
                  <a:srgbClr val="5B6474"/>
                </a:solidFill>
                <a:latin typeface="Calibri"/>
              </a:rPr>
              <a:t>     One line. Refine was the only thing that made the rest work.</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The value of the cycle scales with the vagueness of the ticket. It is not a ritual.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4 · STEP 6</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Go further — what else belongs in the cycle?</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/review</a:t>
            </a:r>
          </a:p>
          <a:p>
            <a:pPr algn="l">
              <a:lnSpc>
                <a:spcPct val="108000"/>
              </a:lnSpc>
              <a:spcBef>
                <a:spcPts val="300"/>
              </a:spcBef>
            </a:pPr>
            <a:r>
              <a:rPr sz="1600" b="0">
                <a:solidFill>
                  <a:srgbClr val="5B6474"/>
                </a:solidFill>
                <a:latin typeface="Calibri"/>
              </a:rPr>
              <a:t>     Review this diff against the plan and the guidelines, as a PR</a:t>
            </a:r>
          </a:p>
          <a:p>
            <a:pPr algn="l">
              <a:lnSpc>
                <a:spcPct val="108000"/>
              </a:lnSpc>
              <a:spcBef>
                <a:spcPts val="1700"/>
              </a:spcBef>
            </a:pPr>
            <a:r>
              <a:rPr sz="2000" b="1">
                <a:solidFill>
                  <a:srgbClr val="1A1F2B"/>
                </a:solidFill>
                <a:latin typeface="Calibri"/>
              </a:rPr>
              <a:t>•  /critique</a:t>
            </a:r>
          </a:p>
          <a:p>
            <a:pPr algn="l">
              <a:lnSpc>
                <a:spcPct val="108000"/>
              </a:lnSpc>
              <a:spcBef>
                <a:spcPts val="300"/>
              </a:spcBef>
            </a:pPr>
            <a:r>
              <a:rPr sz="1600" b="0">
                <a:solidFill>
                  <a:srgbClr val="5B6474"/>
                </a:solidFill>
                <a:latin typeface="Calibri"/>
              </a:rPr>
              <a:t>     Argue against this plan. What's the strongest case it's wrong?</a:t>
            </a:r>
          </a:p>
          <a:p>
            <a:pPr algn="l">
              <a:lnSpc>
                <a:spcPct val="108000"/>
              </a:lnSpc>
              <a:spcBef>
                <a:spcPts val="1700"/>
              </a:spcBef>
            </a:pPr>
            <a:r>
              <a:rPr sz="2000" b="1">
                <a:solidFill>
                  <a:srgbClr val="1A1F2B"/>
                </a:solidFill>
                <a:latin typeface="Calibri"/>
              </a:rPr>
              <a:t>•  /decompose</a:t>
            </a:r>
          </a:p>
          <a:p>
            <a:pPr algn="l">
              <a:lnSpc>
                <a:spcPct val="108000"/>
              </a:lnSpc>
              <a:spcBef>
                <a:spcPts val="300"/>
              </a:spcBef>
            </a:pPr>
            <a:r>
              <a:rPr sz="1600" b="0">
                <a:solidFill>
                  <a:srgbClr val="5B6474"/>
                </a:solidFill>
                <a:latin typeface="Calibri"/>
              </a:rPr>
              <a:t>     Split step 4 into steps verifiable in under ten minutes</a:t>
            </a:r>
          </a:p>
          <a:p>
            <a:pPr algn="l">
              <a:lnSpc>
                <a:spcPct val="108000"/>
              </a:lnSpc>
              <a:spcBef>
                <a:spcPts val="1700"/>
              </a:spcBef>
            </a:pPr>
            <a:r>
              <a:rPr sz="2000" b="1">
                <a:solidFill>
                  <a:srgbClr val="1A1F2B"/>
                </a:solidFill>
                <a:latin typeface="Calibri"/>
              </a:rPr>
              <a:t>•  /regress</a:t>
            </a:r>
          </a:p>
          <a:p>
            <a:pPr algn="l">
              <a:lnSpc>
                <a:spcPct val="108000"/>
              </a:lnSpc>
              <a:spcBef>
                <a:spcPts val="300"/>
              </a:spcBef>
            </a:pPr>
            <a:r>
              <a:rPr sz="1600" b="0">
                <a:solidFill>
                  <a:srgbClr val="5B6474"/>
                </a:solidFill>
                <a:latin typeface="Calibri"/>
              </a:rPr>
              <a:t>     What existing behavior could this break? Write a test for each</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Plan adherence: one step per turn · check steps off in the plan file · make drift fail loudly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EXERCISE 4 · DEBRIEF</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Debrief 4</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0">
                <a:solidFill>
                  <a:srgbClr val="1A1F2B"/>
                </a:solidFill>
                <a:latin typeface="Calibri"/>
              </a:rPr>
              <a:t>•  ★  Same ticket, three processes. How much is the process, and how much is just spending longer?</a:t>
            </a:r>
          </a:p>
          <a:p>
            <a:pPr algn="l">
              <a:lnSpc>
                <a:spcPct val="108000"/>
              </a:lnSpc>
              <a:spcBef>
                <a:spcPts val="1500"/>
              </a:spcBef>
            </a:pPr>
            <a:r>
              <a:rPr sz="2000" b="0">
                <a:solidFill>
                  <a:srgbClr val="1A1F2B"/>
                </a:solidFill>
                <a:latin typeface="Calibri"/>
              </a:rPr>
              <a:t>•  Which of the three stages was hardest not to skip under time pressure?</a:t>
            </a:r>
          </a:p>
          <a:p>
            <a:pPr algn="l">
              <a:lnSpc>
                <a:spcPct val="108000"/>
              </a:lnSpc>
              <a:spcBef>
                <a:spcPts val="1500"/>
              </a:spcBef>
            </a:pPr>
            <a:r>
              <a:rPr sz="2000" b="0">
                <a:solidFill>
                  <a:srgbClr val="1A1F2B"/>
                </a:solidFill>
                <a:latin typeface="Calibri"/>
              </a:rPr>
              <a:t>•  Refine took 15 minutes and produced no code. Sell that to a sceptical colleague in two sentences.</a:t>
            </a:r>
          </a:p>
          <a:p>
            <a:pPr algn="l">
              <a:lnSpc>
                <a:spcPct val="108000"/>
              </a:lnSpc>
              <a:spcBef>
                <a:spcPts val="1500"/>
              </a:spcBef>
            </a:pPr>
            <a:r>
              <a:rPr sz="2000" b="0">
                <a:solidFill>
                  <a:srgbClr val="1A1F2B"/>
                </a:solidFill>
                <a:latin typeface="Calibri"/>
              </a:rPr>
              <a:t>•  Where's the cutoff? What size of change is not worth this cycle?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77440"/>
            <a:ext cx="10637215" cy="2194560"/>
          </a:xfrm>
          <a:prstGeom prst="rect">
            <a:avLst/>
          </a:prstGeom>
          <a:noFill/>
        </p:spPr>
        <p:txBody>
          <a:bodyPr wrap="square" lIns="0" rIns="0" tIns="0" bIns="0">
            <a:spAutoFit/>
          </a:bodyPr>
          <a:lstStyle/>
          <a:p>
            <a:pPr algn="l">
              <a:lnSpc>
                <a:spcPct val="118000"/>
              </a:lnSpc>
              <a:spcBef>
                <a:spcPts val="0"/>
              </a:spcBef>
            </a:pPr>
            <a:r>
              <a:rPr sz="3400" b="1">
                <a:solidFill>
                  <a:srgbClr val="FFFFFF"/>
                </a:solidFill>
                <a:latin typeface="Calibri"/>
              </a:rPr>
              <a:t>Refine decides what's true.
Plan decides what order.
Implement is the part everyone thinks is the work.</a:t>
            </a:r>
          </a:p>
        </p:txBody>
      </p:sp>
      <p:sp>
        <p:nvSpPr>
          <p:cNvPr id="4" name="TextBox 3"/>
          <p:cNvSpPr txBox="1"/>
          <p:nvPr/>
        </p:nvSpPr>
        <p:spPr>
          <a:xfrm>
            <a:off x="777240" y="4846320"/>
            <a:ext cx="10637215" cy="548640"/>
          </a:xfrm>
          <a:prstGeom prst="rect">
            <a:avLst/>
          </a:prstGeom>
          <a:noFill/>
        </p:spPr>
        <p:txBody>
          <a:bodyPr wrap="square" lIns="0" rIns="0" tIns="0" bIns="0">
            <a:spAutoFit/>
          </a:bodyPr>
          <a:lstStyle/>
          <a:p>
            <a:pPr algn="l">
              <a:lnSpc>
                <a:spcPct val="100000"/>
              </a:lnSpc>
              <a:spcBef>
                <a:spcPts val="0"/>
              </a:spcBef>
            </a:pPr>
            <a:r>
              <a:rPr sz="1700" b="0">
                <a:solidFill>
                  <a:srgbClr val="9FADC0"/>
                </a:solidFill>
                <a:latin typeface="Calibri"/>
              </a:rPr>
              <a:t>The model is the same in all three stages. You're the thing that changed.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320040"/>
          </a:xfrm>
          <a:prstGeom prst="rect">
            <a:avLst/>
          </a:prstGeom>
          <a:noFill/>
        </p:spPr>
        <p:txBody>
          <a:bodyPr wrap="square" lIns="0" rIns="0" tIns="0" bIns="0">
            <a:spAutoFit/>
          </a:bodyPr>
          <a:lstStyle/>
          <a:p>
            <a:pPr algn="l">
              <a:lnSpc>
                <a:spcPct val="100000"/>
              </a:lnSpc>
              <a:spcBef>
                <a:spcPts val="0"/>
              </a:spcBef>
            </a:pPr>
            <a:r>
              <a:rPr sz="1200" b="1">
                <a:solidFill>
                  <a:srgbClr val="2563EB"/>
                </a:solidFill>
                <a:latin typeface="Calibri"/>
              </a:rPr>
              <a:t>CLOSE</a:t>
            </a:r>
          </a:p>
        </p:txBody>
      </p:sp>
      <p:sp>
        <p:nvSpPr>
          <p:cNvPr id="4" name="TextBox 3"/>
          <p:cNvSpPr txBox="1"/>
          <p:nvPr/>
        </p:nvSpPr>
        <p:spPr>
          <a:xfrm>
            <a:off x="777240" y="932688"/>
            <a:ext cx="10637215" cy="822960"/>
          </a:xfrm>
          <a:prstGeom prst="rect">
            <a:avLst/>
          </a:prstGeom>
          <a:noFill/>
        </p:spPr>
        <p:txBody>
          <a:bodyPr wrap="square" lIns="0" rIns="0" tIns="0" bIns="0">
            <a:spAutoFit/>
          </a:bodyPr>
          <a:lstStyle/>
          <a:p>
            <a:pPr algn="l">
              <a:lnSpc>
                <a:spcPct val="100000"/>
              </a:lnSpc>
              <a:spcBef>
                <a:spcPts val="0"/>
              </a:spcBef>
            </a:pPr>
            <a:r>
              <a:rPr sz="3200" b="1">
                <a:solidFill>
                  <a:srgbClr val="1A1F2B"/>
                </a:solidFill>
                <a:latin typeface="Calibri"/>
              </a:rPr>
              <a:t>What to take back</a:t>
            </a:r>
          </a:p>
        </p:txBody>
      </p:sp>
      <p:sp>
        <p:nvSpPr>
          <p:cNvPr id="5" name="Rectangle 4"/>
          <p:cNvSpPr/>
          <p:nvPr/>
        </p:nvSpPr>
        <p:spPr>
          <a:xfrm>
            <a:off x="777240" y="1755648"/>
            <a:ext cx="100584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84831"/>
            <a:ext cx="10637215" cy="3657600"/>
          </a:xfrm>
          <a:prstGeom prst="rect">
            <a:avLst/>
          </a:prstGeom>
          <a:noFill/>
        </p:spPr>
        <p:txBody>
          <a:bodyPr wrap="square" lIns="0" rIns="0" tIns="0" bIns="0">
            <a:spAutoFit/>
          </a:bodyPr>
          <a:lstStyle/>
          <a:p>
            <a:pPr algn="l">
              <a:lnSpc>
                <a:spcPct val="108000"/>
              </a:lnSpc>
              <a:spcBef>
                <a:spcPts val="0"/>
              </a:spcBef>
            </a:pPr>
            <a:r>
              <a:rPr sz="2000" b="1">
                <a:solidFill>
                  <a:srgbClr val="1A1F2B"/>
                </a:solidFill>
                <a:latin typeface="Calibri"/>
              </a:rPr>
              <a:t>•  A PROJECT_OVERVIEW.md your team reviewed</a:t>
            </a:r>
          </a:p>
          <a:p>
            <a:pPr algn="l">
              <a:lnSpc>
                <a:spcPct val="108000"/>
              </a:lnSpc>
              <a:spcBef>
                <a:spcPts val="300"/>
              </a:spcBef>
            </a:pPr>
            <a:r>
              <a:rPr sz="1600" b="0">
                <a:solidFill>
                  <a:srgbClr val="5B6474"/>
                </a:solidFill>
                <a:latin typeface="Calibri"/>
              </a:rPr>
              <a:t>     Structural context beats behavioral rules</a:t>
            </a:r>
          </a:p>
          <a:p>
            <a:pPr algn="l">
              <a:lnSpc>
                <a:spcPct val="108000"/>
              </a:lnSpc>
              <a:spcBef>
                <a:spcPts val="1700"/>
              </a:spcBef>
            </a:pPr>
            <a:r>
              <a:rPr sz="2000" b="1">
                <a:solidFill>
                  <a:srgbClr val="1A1F2B"/>
                </a:solidFill>
                <a:latin typeface="Calibri"/>
              </a:rPr>
              <a:t>•  Coding guidelines that are write-ups of real mistakes</a:t>
            </a:r>
          </a:p>
          <a:p>
            <a:pPr algn="l">
              <a:lnSpc>
                <a:spcPct val="108000"/>
              </a:lnSpc>
              <a:spcBef>
                <a:spcPts val="300"/>
              </a:spcBef>
            </a:pPr>
            <a:r>
              <a:rPr sz="1600" b="0">
                <a:solidFill>
                  <a:srgbClr val="5B6474"/>
                </a:solidFill>
                <a:latin typeface="Calibri"/>
              </a:rPr>
              <a:t>     Not a style wishlist</a:t>
            </a:r>
          </a:p>
          <a:p>
            <a:pPr algn="l">
              <a:lnSpc>
                <a:spcPct val="108000"/>
              </a:lnSpc>
              <a:spcBef>
                <a:spcPts val="1700"/>
              </a:spcBef>
            </a:pPr>
            <a:r>
              <a:rPr sz="2000" b="1">
                <a:solidFill>
                  <a:srgbClr val="1A1F2B"/>
                </a:solidFill>
                <a:latin typeface="Calibri"/>
              </a:rPr>
              <a:t>•  A fitness.sh that actually gates something</a:t>
            </a:r>
          </a:p>
          <a:p>
            <a:pPr algn="l">
              <a:lnSpc>
                <a:spcPct val="108000"/>
              </a:lnSpc>
              <a:spcBef>
                <a:spcPts val="300"/>
              </a:spcBef>
            </a:pPr>
            <a:r>
              <a:rPr sz="1600" b="0">
                <a:solidFill>
                  <a:srgbClr val="5B6474"/>
                </a:solidFill>
                <a:latin typeface="Calibri"/>
              </a:rPr>
              <a:t>     Auto-approval is only as safe as your gates</a:t>
            </a:r>
          </a:p>
          <a:p>
            <a:pPr algn="l">
              <a:lnSpc>
                <a:spcPct val="108000"/>
              </a:lnSpc>
              <a:spcBef>
                <a:spcPts val="1700"/>
              </a:spcBef>
            </a:pPr>
            <a:r>
              <a:rPr sz="2000" b="1">
                <a:solidFill>
                  <a:srgbClr val="1A1F2B"/>
                </a:solidFill>
                <a:latin typeface="Calibri"/>
              </a:rPr>
              <a:t>•  Refine → plan → implement, on vague tickets only</a:t>
            </a:r>
          </a:p>
          <a:p>
            <a:pPr algn="l">
              <a:lnSpc>
                <a:spcPct val="108000"/>
              </a:lnSpc>
              <a:spcBef>
                <a:spcPts val="300"/>
              </a:spcBef>
            </a:pPr>
            <a:r>
              <a:rPr sz="1600" b="0">
                <a:solidFill>
                  <a:srgbClr val="5B6474"/>
                </a:solidFill>
                <a:latin typeface="Calibri"/>
              </a:rPr>
              <a:t>     The cycle scales with the vagueness</a:t>
            </a:r>
          </a:p>
        </p:txBody>
      </p:sp>
      <p:sp>
        <p:nvSpPr>
          <p:cNvPr id="7" name="Rectangle 6"/>
          <p:cNvSpPr/>
          <p:nvPr/>
        </p:nvSpPr>
        <p:spPr>
          <a:xfrm>
            <a:off x="777240" y="5806440"/>
            <a:ext cx="10637215" cy="56692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943600"/>
            <a:ext cx="10180015" cy="365760"/>
          </a:xfrm>
          <a:prstGeom prst="rect">
            <a:avLst/>
          </a:prstGeom>
          <a:noFill/>
        </p:spPr>
        <p:txBody>
          <a:bodyPr wrap="square" lIns="0" rIns="0" tIns="0" bIns="0">
            <a:spAutoFit/>
          </a:bodyPr>
          <a:lstStyle/>
          <a:p>
            <a:pPr algn="l">
              <a:lnSpc>
                <a:spcPct val="100000"/>
              </a:lnSpc>
              <a:spcBef>
                <a:spcPts val="0"/>
              </a:spcBef>
            </a:pPr>
            <a:r>
              <a:rPr sz="1600" b="1">
                <a:solidFill>
                  <a:srgbClr val="1A1F2B"/>
                </a:solidFill>
                <a:latin typeface="Calibri"/>
              </a:rPr>
              <a:t>docs/copilot-prompt-cheatsheet.md — keep this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